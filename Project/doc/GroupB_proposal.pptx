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9"/>
  </p:normalViewPr>
  <p:slideViewPr>
    <p:cSldViewPr>
      <p:cViewPr varScale="1">
        <p:scale>
          <a:sx n="152" d="100"/>
          <a:sy n="152" d="100"/>
        </p:scale>
        <p:origin x="85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822"/>
            <a:ext cx="86353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7534909" cy="2741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edesoriano/stellar-classification-dataset-sdss1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fedesoriano/stellar-classification-dataset-sdss17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3542" y="1665414"/>
            <a:ext cx="5282565" cy="3154069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PROJECT</a:t>
            </a:r>
            <a:r>
              <a:rPr sz="6000" spc="-254" dirty="0"/>
              <a:t> </a:t>
            </a:r>
            <a:r>
              <a:rPr sz="6000" spc="-10" dirty="0"/>
              <a:t>PROPOSAL </a:t>
            </a:r>
            <a:r>
              <a:rPr sz="6000" dirty="0"/>
              <a:t>CMPS</a:t>
            </a:r>
            <a:r>
              <a:rPr sz="6000" spc="-40" dirty="0"/>
              <a:t> </a:t>
            </a:r>
            <a:r>
              <a:rPr sz="6000" spc="-10" dirty="0"/>
              <a:t>470/570</a:t>
            </a:r>
            <a:endParaRPr sz="6000" dirty="0"/>
          </a:p>
          <a:p>
            <a:pPr algn="ctr">
              <a:lnSpc>
                <a:spcPct val="100000"/>
              </a:lnSpc>
              <a:spcBef>
                <a:spcPts val="1290"/>
              </a:spcBef>
            </a:pPr>
            <a:r>
              <a:rPr sz="2400" spc="-10" dirty="0">
                <a:latin typeface="Calibri"/>
                <a:cs typeface="Calibri"/>
              </a:rPr>
              <a:t>Group B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  Adam Rodi, Ron Logarbo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TEAM</a:t>
            </a:r>
            <a:r>
              <a:rPr spc="-60" dirty="0"/>
              <a:t> </a:t>
            </a:r>
            <a:r>
              <a:rPr dirty="0"/>
              <a:t>MEMBERS</a:t>
            </a:r>
            <a:r>
              <a:rPr spc="-75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88849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libri"/>
              </a:rPr>
              <a:t>•  Adam Rodi</a:t>
            </a:r>
          </a:p>
          <a:p>
            <a:r>
              <a:rPr sz="2000" b="0" dirty="0">
                <a:latin typeface="Calibri"/>
              </a:rPr>
              <a:t>    –  Data preprocessing, </a:t>
            </a:r>
            <a:r>
              <a:rPr lang="en-US" sz="2000" b="0" dirty="0">
                <a:latin typeface="Calibri"/>
              </a:rPr>
              <a:t>ANN</a:t>
            </a:r>
            <a:r>
              <a:rPr sz="2000" b="0" dirty="0">
                <a:latin typeface="Calibri"/>
              </a:rPr>
              <a:t> &amp; SVM classifiers, </a:t>
            </a:r>
            <a:r>
              <a:rPr lang="en-US" sz="2000" b="0" dirty="0">
                <a:latin typeface="Calibri"/>
              </a:rPr>
              <a:t>visualization </a:t>
            </a:r>
            <a:r>
              <a:rPr sz="2000" b="0" dirty="0">
                <a:latin typeface="Calibri"/>
              </a:rPr>
              <a:t>&amp; reporting</a:t>
            </a:r>
          </a:p>
          <a:p>
            <a:r>
              <a:rPr sz="2400" b="0" dirty="0">
                <a:latin typeface="Calibri"/>
              </a:rPr>
              <a:t>•  Ron Logarbo</a:t>
            </a:r>
          </a:p>
          <a:p>
            <a:r>
              <a:rPr sz="2000" b="0" dirty="0">
                <a:latin typeface="Calibri"/>
              </a:rPr>
              <a:t>    –  Feature extraction &amp; analysis, </a:t>
            </a:r>
            <a:r>
              <a:rPr lang="en-US" sz="2000" b="0" dirty="0">
                <a:latin typeface="Calibri"/>
              </a:rPr>
              <a:t>K-NN</a:t>
            </a:r>
            <a:r>
              <a:rPr sz="2000" b="0" dirty="0">
                <a:latin typeface="Calibri"/>
              </a:rPr>
              <a:t> &amp; DT classifiers, </a:t>
            </a:r>
            <a:r>
              <a:rPr lang="en-US" sz="2000" b="0" dirty="0">
                <a:latin typeface="Calibri"/>
              </a:rPr>
              <a:t>performance analysis</a:t>
            </a:r>
            <a:endParaRPr sz="2000" b="0" dirty="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93421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libri"/>
              </a:rPr>
              <a:t>•  Goal: classify astronomical objects (Stars, Galaxies, Quasars) from spectral data</a:t>
            </a:r>
          </a:p>
          <a:p>
            <a:r>
              <a:rPr sz="2400" b="0" dirty="0">
                <a:latin typeface="Calibri"/>
              </a:rPr>
              <a:t>•  Dataset: Sloan Digital Sky Survey (SDSS DR17) — 100,000 real </a:t>
            </a:r>
            <a:r>
              <a:rPr lang="en-US" sz="2400" b="0" dirty="0">
                <a:latin typeface="Calibri"/>
              </a:rPr>
              <a:t>observations</a:t>
            </a:r>
          </a:p>
          <a:p>
            <a:r>
              <a:rPr sz="2400" b="0" dirty="0">
                <a:latin typeface="Calibri"/>
              </a:rPr>
              <a:t>•  Pipeline</a:t>
            </a:r>
          </a:p>
          <a:p>
            <a:r>
              <a:rPr sz="2000" b="0" dirty="0">
                <a:latin typeface="Calibri"/>
              </a:rPr>
              <a:t>    –  Drop identifier columns; normalize photometric &amp; positional features</a:t>
            </a:r>
          </a:p>
          <a:p>
            <a:r>
              <a:rPr sz="2000" b="0" dirty="0">
                <a:latin typeface="Calibri"/>
              </a:rPr>
              <a:t>    –  Extract features; analyze via correlation matrix and PCA</a:t>
            </a:r>
          </a:p>
          <a:p>
            <a:r>
              <a:rPr sz="2000" b="0" dirty="0">
                <a:latin typeface="Calibri"/>
              </a:rPr>
              <a:t>    –  Train and tune ANN, SVM, Decision Tree, and K-NN classifiers</a:t>
            </a:r>
          </a:p>
          <a:p>
            <a:r>
              <a:rPr sz="2000" b="0" dirty="0">
                <a:latin typeface="Calibri"/>
              </a:rPr>
              <a:t>    –  Assess and compare model performance</a:t>
            </a:r>
          </a:p>
          <a:p>
            <a:r>
              <a:rPr sz="2400" b="0" dirty="0">
                <a:latin typeface="Calibri"/>
              </a:rPr>
              <a:t>•  Data split: 60 % train / 20 % validation / 20 % test</a:t>
            </a:r>
          </a:p>
          <a:p>
            <a:r>
              <a:rPr sz="2400" b="0" dirty="0">
                <a:latin typeface="Calibri"/>
              </a:rPr>
              <a:t>•  Performance metrics: sensitivity, specificity, accuracy, F1, AUC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822"/>
            <a:ext cx="727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RAW</a:t>
            </a:r>
            <a:r>
              <a:rPr spc="-110" dirty="0"/>
              <a:t> </a:t>
            </a:r>
            <a:r>
              <a:rPr spc="-14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598661" cy="356636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Source: </a:t>
            </a:r>
            <a:r>
              <a:rPr dirty="0">
                <a:hlinkClick r:id="rId2"/>
              </a:rPr>
              <a:t>Sloan Digital Sky Survey Data Release 17 (SDSS DR17) via Kaggle</a:t>
            </a:r>
            <a:endParaRPr lang="en-US"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100,000 astronomical observations</a:t>
            </a:r>
            <a:endParaRPr lang="en-US" dirty="0"/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3 class labels: Star, Galaxy, Quasar (QSO)</a:t>
            </a:r>
            <a:endParaRPr lang="en-US" dirty="0"/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18 columns</a:t>
            </a:r>
            <a:r>
              <a:rPr lang="en-US" dirty="0"/>
              <a:t>: 17 feature columns with 1 class column</a:t>
            </a:r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9 identifier columns </a:t>
            </a:r>
            <a:r>
              <a:rPr lang="en-US" dirty="0"/>
              <a:t>(can be dropped </a:t>
            </a:r>
            <a:r>
              <a:rPr dirty="0"/>
              <a:t>during preprocessing</a:t>
            </a:r>
            <a:r>
              <a:rPr lang="en-US" dirty="0"/>
              <a:t>)</a:t>
            </a:r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Photometric filters: u, g, r, </a:t>
            </a:r>
            <a:r>
              <a:rPr dirty="0" err="1"/>
              <a:t>i</a:t>
            </a:r>
            <a:r>
              <a:rPr dirty="0"/>
              <a:t>, z  (ultraviolet through infrared bands)</a:t>
            </a:r>
            <a:endParaRPr lang="en-US" dirty="0"/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Positional: alpha (Right Ascension), delta (Declination)</a:t>
            </a:r>
            <a:endParaRPr lang="en-US" dirty="0"/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Spectral: redshift  (dominant predictor for Quasar separation)</a:t>
            </a:r>
            <a:endParaRPr lang="en-US" dirty="0"/>
          </a:p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No missing values; clean format ready for normalization and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0570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latin typeface="Calibri"/>
              </a:rPr>
              <a:t>SAMPLE RAW DATA  (3 representative observations — italic columns </a:t>
            </a:r>
            <a:r>
              <a:rPr lang="en-US" sz="1800" dirty="0">
                <a:latin typeface="Calibri"/>
              </a:rPr>
              <a:t>are identifiers</a:t>
            </a:r>
            <a:r>
              <a:rPr sz="1800" dirty="0">
                <a:latin typeface="Calibri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09034"/>
              </p:ext>
            </p:extLst>
          </p:nvPr>
        </p:nvGraphicFramePr>
        <p:xfrm>
          <a:off x="472440" y="764177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obj_ID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 dirty="0">
                          <a:latin typeface="Calibri"/>
                        </a:rP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>
                          <a:latin typeface="Calibri"/>
                        </a:rPr>
                        <a:t>run_ID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rerun_ID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cam_col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field_ID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spec_obj_ID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>
                          <a:latin typeface="Calibri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0" dirty="0">
                          <a:latin typeface="Calibri"/>
                        </a:rPr>
                        <a:t>redshift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>
                          <a:latin typeface="Calibri"/>
                        </a:rPr>
                        <a:t>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>
                          <a:latin typeface="Calibri"/>
                        </a:rPr>
                        <a:t>MJD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 i="1" dirty="0" err="1">
                          <a:latin typeface="Calibri"/>
                        </a:rPr>
                        <a:t>fiber_ID</a:t>
                      </a:r>
                      <a:endParaRPr sz="800" b="1" i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800" i="1" dirty="0">
                          <a:latin typeface="Calibri"/>
                        </a:rPr>
                        <a:t>1237651753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183.5324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0.8967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15.52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15.22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 dirty="0">
                          <a:latin typeface="Calibri"/>
                        </a:rPr>
                        <a:t>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3722360949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GALAXY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0.0637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 dirty="0">
                          <a:latin typeface="Calibri"/>
                        </a:rPr>
                        <a:t>5812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56354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1237651754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183.4163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0.3016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 dirty="0">
                          <a:latin typeface="Calibri"/>
                        </a:rP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3722360956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 dirty="0">
                          <a:latin typeface="Calibri"/>
                        </a:rPr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-0.0001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56354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1237651755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183.5832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0.4721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18.03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17.85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17.78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3722360963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 dirty="0">
                          <a:latin typeface="Calibri"/>
                        </a:rPr>
                        <a:t>QSO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0">
                          <a:latin typeface="Calibri"/>
                        </a:rPr>
                        <a:t>0.8232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>
                          <a:latin typeface="Calibri"/>
                        </a:rPr>
                        <a:t>56354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i="1" dirty="0">
                          <a:latin typeface="Calibri"/>
                        </a:rPr>
                        <a:t>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21ED4DA-289E-2B0D-B13C-6C2C72580063}"/>
              </a:ext>
            </a:extLst>
          </p:cNvPr>
          <p:cNvSpPr txBox="1">
            <a:spLocks/>
          </p:cNvSpPr>
          <p:nvPr/>
        </p:nvSpPr>
        <p:spPr>
          <a:xfrm>
            <a:off x="457200" y="3657600"/>
            <a:ext cx="11125200" cy="283464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obj_ID</a:t>
            </a:r>
            <a:r>
              <a:rPr lang="en-US" sz="1400" dirty="0"/>
              <a:t> = Object Identifier, the unique value that identifies the object in the image catalog used by the CAS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alpha = Right Ascension angle (at J2000 epoch)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delta = Declination angle (at J2000 epoch)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u = Ultraviolet filter in the photometric system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g = Green filter in the photometric system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r = Red filter in the photometric system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i</a:t>
            </a:r>
            <a:r>
              <a:rPr lang="en-US" sz="1400" dirty="0"/>
              <a:t> = Near Infrared filter in the photometric system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z = Infrared filter in the photometric system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run_ID</a:t>
            </a:r>
            <a:r>
              <a:rPr lang="en-US" sz="1400" dirty="0"/>
              <a:t> = Run Number used to identify the specific scan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rereun_ID</a:t>
            </a:r>
            <a:r>
              <a:rPr lang="en-US" sz="1400" dirty="0"/>
              <a:t> = Rerun Number to specify how the image was processed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cam_col</a:t>
            </a:r>
            <a:r>
              <a:rPr lang="en-US" sz="1400" dirty="0"/>
              <a:t> = Camera column to identify the scanline within the run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field_ID</a:t>
            </a:r>
            <a:r>
              <a:rPr lang="en-US" sz="1400" dirty="0"/>
              <a:t> = Field number to identify each field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spec_obj_ID</a:t>
            </a:r>
            <a:r>
              <a:rPr lang="en-US" sz="1400" dirty="0"/>
              <a:t> = Unique ID used for optical spectroscopic objects (this means that 2 different observations with the same </a:t>
            </a:r>
            <a:r>
              <a:rPr lang="en-US" sz="1400" dirty="0" err="1"/>
              <a:t>spec_obj_ID</a:t>
            </a:r>
            <a:r>
              <a:rPr lang="en-US" sz="1400" dirty="0"/>
              <a:t> must share the output class)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class = object class (galaxy, star or quasar object)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redshift = redshift value based on the increase in wavelength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plate = plate ID, identifies each plate in SDSS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/>
              <a:t>MJD = Modified Julian Date, used to indicate when a given piece of SDSS data was taken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400" dirty="0" err="1"/>
              <a:t>fiber_ID</a:t>
            </a:r>
            <a:r>
              <a:rPr lang="en-US" sz="1400" dirty="0"/>
              <a:t> = fiber ID that identifies the fiber that pointed the light at the focal plane in each observation</a:t>
            </a:r>
          </a:p>
          <a:p>
            <a:pPr marL="342900" indent="-342900" rtl="0" fontAlgn="base">
              <a:buFont typeface="+mj-lt"/>
              <a:buAutoNum type="arabicPeriod"/>
            </a:pPr>
            <a:endParaRPr lang="en-US" sz="1400" dirty="0"/>
          </a:p>
          <a:p>
            <a:pPr marL="342900" indent="-342900" rtl="0" fontAlgn="base">
              <a:buFont typeface="+mj-lt"/>
              <a:buAutoNum type="arabicPeriod"/>
            </a:pPr>
            <a:endParaRPr lang="en-US" sz="1400" dirty="0"/>
          </a:p>
          <a:p>
            <a:pPr marL="342900" indent="-342900" rtl="0" fontAlgn="base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28600"/>
            <a:ext cx="10835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>
                <a:latin typeface="Calibri"/>
              </a:rP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18872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2000" b="1"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latin typeface="Calibri"/>
                        </a:rPr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Dataset selection &amp; environment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Data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Weeks 1–2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Feature extraction &amp; correlation / PCA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Model generation  (ANN, SVM, DT, K-NN)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Weeks 2–3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Model assessment &amp; performance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Final report &amp; presentation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EC801-7FC5-974E-BBC2-EB6511BAD127}"/>
              </a:ext>
            </a:extLst>
          </p:cNvPr>
          <p:cNvSpPr txBox="1"/>
          <p:nvPr/>
        </p:nvSpPr>
        <p:spPr>
          <a:xfrm>
            <a:off x="914400" y="5634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Calibri"/>
              </a:rPr>
              <a:t>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325D1-79D4-83DE-F75F-B81CEDC12C6E}"/>
              </a:ext>
            </a:extLst>
          </p:cNvPr>
          <p:cNvSpPr txBox="1"/>
          <p:nvPr/>
        </p:nvSpPr>
        <p:spPr>
          <a:xfrm>
            <a:off x="1066801" y="1524000"/>
            <a:ext cx="944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fedesoriano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(January 2022). Stellar Classification Dataset - SDSS17. Retrieved from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https://www.kaggle.com/fedesoriano/stellar-classification-dataset-sdss17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72B9A77-1951-DE8F-D61C-EAA49F8DD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6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98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678</Words>
  <Application>Microsoft Macintosh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MT</vt:lpstr>
      <vt:lpstr>Calibri</vt:lpstr>
      <vt:lpstr>Calibri Light</vt:lpstr>
      <vt:lpstr>Office Theme</vt:lpstr>
      <vt:lpstr>PROJECT PROPOSAL CMPS 470/570 Group B:  Adam Rodi, Ron Logarbo</vt:lpstr>
      <vt:lpstr>TEAM MEMBERS &amp; ROLES</vt:lpstr>
      <vt:lpstr>DESCRIPTION OF THE PROJECT</vt:lpstr>
      <vt:lpstr>DESCRIPTION OF THE RAW DATA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CMPS 439/539 FINAL PROJECT</dc:title>
  <dc:creator>Omer</dc:creator>
  <cp:lastModifiedBy>Adam Rodi</cp:lastModifiedBy>
  <cp:revision>5</cp:revision>
  <dcterms:created xsi:type="dcterms:W3CDTF">2026-03-06T12:15:20Z</dcterms:created>
  <dcterms:modified xsi:type="dcterms:W3CDTF">2026-03-06T16:29:29Z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2026-03-06T00:00:00Z</vt:filetime>
  </property>
  <property fmtid="{D5CDD505-2E9C-101B-9397-08002B2CF9AE}" pid="5" name="Producer">
    <vt:lpwstr>Adobe PDF Library 20.5.43</vt:lpwstr>
  </property>
</Properties>
</file>
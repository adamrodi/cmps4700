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822"/>
            <a:ext cx="863536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07159"/>
            <a:ext cx="7534909" cy="2741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3542" y="1665414"/>
            <a:ext cx="5282565" cy="2304415"/>
          </a:xfrm>
          <a:prstGeom prst="rect"/>
        </p:spPr>
        <p:txBody>
          <a:bodyPr wrap="square" lIns="0" tIns="116205" rIns="0" bIns="0" rtlCol="0" vert="horz">
            <a:spAutoFit/>
          </a:bodyPr>
          <a:lstStyle/>
          <a:p>
            <a:pPr algn="ctr" marL="12700" marR="5080">
              <a:lnSpc>
                <a:spcPts val="6480"/>
              </a:lnSpc>
              <a:spcBef>
                <a:spcPts val="915"/>
              </a:spcBef>
            </a:pPr>
            <a:r>
              <a:rPr dirty="0" sz="6000"/>
              <a:t>PROJECT</a:t>
            </a:r>
            <a:r>
              <a:rPr dirty="0" sz="6000" spc="-254"/>
              <a:t> </a:t>
            </a:r>
            <a:r>
              <a:rPr dirty="0" sz="6000" spc="-10"/>
              <a:t>REPORT </a:t>
            </a:r>
            <a:r>
              <a:rPr dirty="0" sz="6000"/>
              <a:t>CMPS</a:t>
            </a:r>
            <a:r>
              <a:rPr dirty="0" sz="6000" spc="-40"/>
              <a:t> </a:t>
            </a:r>
            <a:r>
              <a:rPr dirty="0" sz="6000" spc="-10"/>
              <a:t>470/570</a:t>
            </a:r>
            <a:endParaRPr sz="6000"/>
          </a:p>
          <a:p>
            <a:pPr algn="ctr">
              <a:lnSpc>
                <a:spcPct val="100000"/>
              </a:lnSpc>
              <a:spcBef>
                <a:spcPts val="1290"/>
              </a:spcBef>
            </a:pPr>
            <a:r>
              <a:rPr dirty="0" sz="2400" spc="-10">
                <a:latin typeface="Calibri"/>
                <a:cs typeface="Calibri"/>
              </a:rPr>
              <a:t>TEAM: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TEAM</a:t>
            </a:r>
            <a:r>
              <a:rPr dirty="0" spc="-60"/>
              <a:t> </a:t>
            </a:r>
            <a:r>
              <a:rPr dirty="0"/>
              <a:t>MEMBERS</a:t>
            </a:r>
            <a:r>
              <a:rPr dirty="0" spc="-75"/>
              <a:t> </a:t>
            </a:r>
            <a:r>
              <a:rPr dirty="0"/>
              <a:t>&amp;</a:t>
            </a:r>
            <a:r>
              <a:rPr dirty="0" spc="-45"/>
              <a:t> </a:t>
            </a:r>
            <a:r>
              <a:rPr dirty="0" spc="-10"/>
              <a:t>ROLES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916836" y="1933911"/>
            <a:ext cx="778510" cy="862330"/>
            <a:chOff x="1916836" y="1933911"/>
            <a:chExt cx="778510" cy="862330"/>
          </a:xfrm>
        </p:grpSpPr>
        <p:sp>
          <p:nvSpPr>
            <p:cNvPr id="3" name="object 3" descr=""/>
            <p:cNvSpPr/>
            <p:nvPr/>
          </p:nvSpPr>
          <p:spPr>
            <a:xfrm>
              <a:off x="1926366" y="1933911"/>
              <a:ext cx="759460" cy="862330"/>
            </a:xfrm>
            <a:custGeom>
              <a:avLst/>
              <a:gdLst/>
              <a:ahLst/>
              <a:cxnLst/>
              <a:rect l="l" t="t" r="r" b="b"/>
              <a:pathLst>
                <a:path w="759460" h="862330">
                  <a:moveTo>
                    <a:pt x="379450" y="0"/>
                  </a:moveTo>
                  <a:lnTo>
                    <a:pt x="311244" y="2313"/>
                  </a:lnTo>
                  <a:lnTo>
                    <a:pt x="247048" y="8985"/>
                  </a:lnTo>
                  <a:lnTo>
                    <a:pt x="187935" y="19608"/>
                  </a:lnTo>
                  <a:lnTo>
                    <a:pt x="134976" y="33777"/>
                  </a:lnTo>
                  <a:lnTo>
                    <a:pt x="89242" y="51087"/>
                  </a:lnTo>
                  <a:lnTo>
                    <a:pt x="51806" y="71133"/>
                  </a:lnTo>
                  <a:lnTo>
                    <a:pt x="6113" y="117806"/>
                  </a:lnTo>
                  <a:lnTo>
                    <a:pt x="0" y="143624"/>
                  </a:lnTo>
                  <a:lnTo>
                    <a:pt x="0" y="718134"/>
                  </a:lnTo>
                  <a:lnTo>
                    <a:pt x="23739" y="768252"/>
                  </a:lnTo>
                  <a:lnTo>
                    <a:pt x="89242" y="810675"/>
                  </a:lnTo>
                  <a:lnTo>
                    <a:pt x="134976" y="827988"/>
                  </a:lnTo>
                  <a:lnTo>
                    <a:pt x="187935" y="842159"/>
                  </a:lnTo>
                  <a:lnTo>
                    <a:pt x="247048" y="852784"/>
                  </a:lnTo>
                  <a:lnTo>
                    <a:pt x="311244" y="859456"/>
                  </a:lnTo>
                  <a:lnTo>
                    <a:pt x="379450" y="861771"/>
                  </a:lnTo>
                  <a:lnTo>
                    <a:pt x="447660" y="859456"/>
                  </a:lnTo>
                  <a:lnTo>
                    <a:pt x="511859" y="852784"/>
                  </a:lnTo>
                  <a:lnTo>
                    <a:pt x="570974" y="842159"/>
                  </a:lnTo>
                  <a:lnTo>
                    <a:pt x="623935" y="827988"/>
                  </a:lnTo>
                  <a:lnTo>
                    <a:pt x="669670" y="810675"/>
                  </a:lnTo>
                  <a:lnTo>
                    <a:pt x="707106" y="790628"/>
                  </a:lnTo>
                  <a:lnTo>
                    <a:pt x="752800" y="743951"/>
                  </a:lnTo>
                  <a:lnTo>
                    <a:pt x="758913" y="718134"/>
                  </a:lnTo>
                  <a:lnTo>
                    <a:pt x="758913" y="143624"/>
                  </a:lnTo>
                  <a:lnTo>
                    <a:pt x="735174" y="93508"/>
                  </a:lnTo>
                  <a:lnTo>
                    <a:pt x="669670" y="51087"/>
                  </a:lnTo>
                  <a:lnTo>
                    <a:pt x="623935" y="33777"/>
                  </a:lnTo>
                  <a:lnTo>
                    <a:pt x="570974" y="19608"/>
                  </a:lnTo>
                  <a:lnTo>
                    <a:pt x="511859" y="8985"/>
                  </a:lnTo>
                  <a:lnTo>
                    <a:pt x="447660" y="2313"/>
                  </a:lnTo>
                  <a:lnTo>
                    <a:pt x="379450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926361" y="2077535"/>
              <a:ext cx="759460" cy="144145"/>
            </a:xfrm>
            <a:custGeom>
              <a:avLst/>
              <a:gdLst/>
              <a:ahLst/>
              <a:cxnLst/>
              <a:rect l="l" t="t" r="r" b="b"/>
              <a:pathLst>
                <a:path w="759460" h="144144">
                  <a:moveTo>
                    <a:pt x="758913" y="0"/>
                  </a:moveTo>
                  <a:lnTo>
                    <a:pt x="735174" y="50116"/>
                  </a:lnTo>
                  <a:lnTo>
                    <a:pt x="669671" y="92536"/>
                  </a:lnTo>
                  <a:lnTo>
                    <a:pt x="623937" y="109846"/>
                  </a:lnTo>
                  <a:lnTo>
                    <a:pt x="570978" y="124015"/>
                  </a:lnTo>
                  <a:lnTo>
                    <a:pt x="511865" y="134639"/>
                  </a:lnTo>
                  <a:lnTo>
                    <a:pt x="447669" y="141310"/>
                  </a:lnTo>
                  <a:lnTo>
                    <a:pt x="379463" y="143624"/>
                  </a:lnTo>
                  <a:lnTo>
                    <a:pt x="311253" y="141310"/>
                  </a:lnTo>
                  <a:lnTo>
                    <a:pt x="247054" y="134639"/>
                  </a:lnTo>
                  <a:lnTo>
                    <a:pt x="187939" y="124015"/>
                  </a:lnTo>
                  <a:lnTo>
                    <a:pt x="134978" y="109846"/>
                  </a:lnTo>
                  <a:lnTo>
                    <a:pt x="89243" y="92536"/>
                  </a:lnTo>
                  <a:lnTo>
                    <a:pt x="51807" y="72491"/>
                  </a:lnTo>
                  <a:lnTo>
                    <a:pt x="6113" y="25817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2135355" y="2320276"/>
            <a:ext cx="3397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2682100" y="2329601"/>
            <a:ext cx="396875" cy="76200"/>
            <a:chOff x="2682100" y="2329601"/>
            <a:chExt cx="396875" cy="76200"/>
          </a:xfrm>
        </p:grpSpPr>
        <p:sp>
          <p:nvSpPr>
            <p:cNvPr id="7" name="object 7" descr=""/>
            <p:cNvSpPr/>
            <p:nvPr/>
          </p:nvSpPr>
          <p:spPr>
            <a:xfrm>
              <a:off x="2685275" y="2364794"/>
              <a:ext cx="330200" cy="3175"/>
            </a:xfrm>
            <a:custGeom>
              <a:avLst/>
              <a:gdLst/>
              <a:ahLst/>
              <a:cxnLst/>
              <a:rect l="l" t="t" r="r" b="b"/>
              <a:pathLst>
                <a:path w="330200" h="3175">
                  <a:moveTo>
                    <a:pt x="0" y="0"/>
                  </a:moveTo>
                  <a:lnTo>
                    <a:pt x="329831" y="3022"/>
                  </a:lnTo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002057" y="2329601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5" h="76200">
                  <a:moveTo>
                    <a:pt x="698" y="0"/>
                  </a:moveTo>
                  <a:lnTo>
                    <a:pt x="0" y="76200"/>
                  </a:lnTo>
                  <a:lnTo>
                    <a:pt x="76542" y="38798"/>
                  </a:lnTo>
                  <a:lnTo>
                    <a:pt x="69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775955" y="872299"/>
            <a:ext cx="706120" cy="369570"/>
          </a:xfrm>
          <a:prstGeom prst="rect">
            <a:avLst/>
          </a:prstGeom>
          <a:ln w="12700">
            <a:solidFill>
              <a:srgbClr val="6FAC46"/>
            </a:solidFill>
          </a:ln>
        </p:spPr>
        <p:txBody>
          <a:bodyPr wrap="square" lIns="0" tIns="90805" rIns="0" bIns="0" rtlCol="0" vert="horz">
            <a:spAutoFit/>
          </a:bodyPr>
          <a:lstStyle/>
          <a:p>
            <a:pPr marL="104775">
              <a:lnSpc>
                <a:spcPct val="100000"/>
              </a:lnSpc>
              <a:spcBef>
                <a:spcPts val="715"/>
              </a:spcBef>
            </a:pPr>
            <a:r>
              <a:rPr dirty="0" sz="1100" spc="130">
                <a:solidFill>
                  <a:srgbClr val="2B91AE"/>
                </a:solidFill>
                <a:latin typeface="Trebuchet MS"/>
                <a:cs typeface="Trebuchet MS"/>
              </a:rPr>
              <a:t>config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11385" y="182898"/>
            <a:ext cx="331597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/>
              <a:t>MODULE</a:t>
            </a:r>
            <a:r>
              <a:rPr dirty="0" sz="1800" spc="-25"/>
              <a:t> </a:t>
            </a:r>
            <a:r>
              <a:rPr dirty="0" sz="1800" spc="-20"/>
              <a:t>COMMUNICATION</a:t>
            </a:r>
            <a:r>
              <a:rPr dirty="0" sz="1800" spc="-15"/>
              <a:t> </a:t>
            </a:r>
            <a:r>
              <a:rPr dirty="0" sz="1800" spc="-10"/>
              <a:t>GRAPH</a:t>
            </a:r>
            <a:endParaRPr sz="1800"/>
          </a:p>
        </p:txBody>
      </p:sp>
      <p:sp>
        <p:nvSpPr>
          <p:cNvPr id="11" name="object 11" descr=""/>
          <p:cNvSpPr txBox="1"/>
          <p:nvPr/>
        </p:nvSpPr>
        <p:spPr>
          <a:xfrm>
            <a:off x="1775955" y="1362163"/>
            <a:ext cx="706120" cy="369570"/>
          </a:xfrm>
          <a:prstGeom prst="rect">
            <a:avLst/>
          </a:prstGeom>
          <a:ln w="12700">
            <a:solidFill>
              <a:srgbClr val="6FAC46"/>
            </a:solidFill>
          </a:ln>
        </p:spPr>
        <p:txBody>
          <a:bodyPr wrap="square" lIns="0" tIns="908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dirty="0" sz="1100" spc="110">
                <a:solidFill>
                  <a:srgbClr val="2B91AE"/>
                </a:solidFill>
                <a:latin typeface="Trebuchet MS"/>
                <a:cs typeface="Trebuchet MS"/>
              </a:rPr>
              <a:t>UI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078607" y="2117534"/>
            <a:ext cx="1358900" cy="502284"/>
          </a:xfrm>
          <a:prstGeom prst="rect">
            <a:avLst/>
          </a:prstGeom>
          <a:ln w="12700">
            <a:solidFill>
              <a:srgbClr val="6FAC46"/>
            </a:solidFill>
          </a:ln>
        </p:spPr>
        <p:txBody>
          <a:bodyPr wrap="square" lIns="0" tIns="77470" rIns="0" bIns="0" rtlCol="0" vert="horz">
            <a:spAutoFit/>
          </a:bodyPr>
          <a:lstStyle/>
          <a:p>
            <a:pPr marL="260350" indent="-16954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60350" algn="l"/>
              </a:tabLst>
            </a:pPr>
            <a:r>
              <a:rPr dirty="0" sz="1100">
                <a:solidFill>
                  <a:srgbClr val="2B91AE"/>
                </a:solidFill>
                <a:latin typeface="Trebuchet MS"/>
                <a:cs typeface="Trebuchet MS"/>
              </a:rPr>
              <a:t>Read</a:t>
            </a:r>
            <a:r>
              <a:rPr dirty="0" sz="1100" spc="475">
                <a:solidFill>
                  <a:srgbClr val="2B91AE"/>
                </a:solidFill>
                <a:latin typeface="Trebuchet MS"/>
                <a:cs typeface="Trebuchet MS"/>
              </a:rPr>
              <a:t> </a:t>
            </a:r>
            <a:r>
              <a:rPr dirty="0" sz="1100" spc="55">
                <a:solidFill>
                  <a:srgbClr val="2B91AE"/>
                </a:solidFill>
                <a:latin typeface="Trebuchet MS"/>
                <a:cs typeface="Trebuchet MS"/>
              </a:rPr>
              <a:t>Data</a:t>
            </a:r>
            <a:endParaRPr sz="1100">
              <a:latin typeface="Trebuchet MS"/>
              <a:cs typeface="Trebuchet MS"/>
            </a:endParaRPr>
          </a:p>
          <a:p>
            <a:pPr marL="260350" indent="-169545">
              <a:lnSpc>
                <a:spcPct val="100000"/>
              </a:lnSpc>
              <a:buFont typeface="Arial MT"/>
              <a:buChar char="•"/>
              <a:tabLst>
                <a:tab pos="260350" algn="l"/>
              </a:tabLst>
            </a:pPr>
            <a:r>
              <a:rPr dirty="0" sz="1100" spc="100">
                <a:solidFill>
                  <a:srgbClr val="2B91AE"/>
                </a:solidFill>
                <a:latin typeface="Trebuchet MS"/>
                <a:cs typeface="Trebuchet MS"/>
              </a:rPr>
              <a:t>PreProcess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7224382" y="1493776"/>
            <a:ext cx="146050" cy="434340"/>
            <a:chOff x="7224382" y="1493776"/>
            <a:chExt cx="146050" cy="434340"/>
          </a:xfrm>
        </p:grpSpPr>
        <p:pic>
          <p:nvPicPr>
            <p:cNvPr id="14" name="object 1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24382" y="1493776"/>
              <a:ext cx="63500" cy="98425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06693" y="1493776"/>
              <a:ext cx="63500" cy="98425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24382" y="1829154"/>
              <a:ext cx="63500" cy="98425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06693" y="1829154"/>
              <a:ext cx="63500" cy="98425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6868934" y="1389341"/>
            <a:ext cx="934085" cy="808355"/>
          </a:xfrm>
          <a:prstGeom prst="rect">
            <a:avLst/>
          </a:prstGeom>
          <a:ln w="12700">
            <a:solidFill>
              <a:srgbClr val="6FAC46"/>
            </a:solidFill>
          </a:ln>
        </p:spPr>
        <p:txBody>
          <a:bodyPr wrap="square" lIns="0" tIns="62865" rIns="0" bIns="0" rtlCol="0" vert="horz">
            <a:spAutoFit/>
          </a:bodyPr>
          <a:lstStyle/>
          <a:p>
            <a:pPr marL="260350" indent="-169545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260350" algn="l"/>
              </a:tabLst>
            </a:pPr>
            <a:r>
              <a:rPr dirty="0" sz="1100" spc="-50">
                <a:solidFill>
                  <a:srgbClr val="2B91AE"/>
                </a:solidFill>
                <a:latin typeface="Trebuchet MS"/>
                <a:cs typeface="Trebuchet MS"/>
              </a:rPr>
              <a:t>A</a:t>
            </a:r>
            <a:endParaRPr sz="1100">
              <a:latin typeface="Trebuchet MS"/>
              <a:cs typeface="Trebuchet MS"/>
            </a:endParaRPr>
          </a:p>
          <a:p>
            <a:pPr marL="260350" indent="-169545">
              <a:lnSpc>
                <a:spcPct val="100000"/>
              </a:lnSpc>
              <a:buFont typeface="Arial MT"/>
              <a:buChar char="•"/>
              <a:tabLst>
                <a:tab pos="260350" algn="l"/>
              </a:tabLst>
            </a:pPr>
            <a:r>
              <a:rPr dirty="0" sz="1100" spc="-25">
                <a:solidFill>
                  <a:srgbClr val="2B91AE"/>
                </a:solidFill>
                <a:latin typeface="Trebuchet MS"/>
                <a:cs typeface="Trebuchet MS"/>
              </a:rPr>
              <a:t>DT</a:t>
            </a:r>
            <a:endParaRPr sz="1100">
              <a:latin typeface="Trebuchet MS"/>
              <a:cs typeface="Trebuchet MS"/>
            </a:endParaRPr>
          </a:p>
          <a:p>
            <a:pPr marL="260350" indent="-169545">
              <a:lnSpc>
                <a:spcPct val="100000"/>
              </a:lnSpc>
              <a:buFont typeface="Arial MT"/>
              <a:buChar char="•"/>
              <a:tabLst>
                <a:tab pos="260350" algn="l"/>
              </a:tabLst>
            </a:pPr>
            <a:r>
              <a:rPr dirty="0" sz="1100" spc="-50">
                <a:solidFill>
                  <a:srgbClr val="2B91AE"/>
                </a:solidFill>
                <a:latin typeface="Trebuchet MS"/>
                <a:cs typeface="Trebuchet MS"/>
              </a:rPr>
              <a:t>K</a:t>
            </a:r>
            <a:endParaRPr sz="1100">
              <a:latin typeface="Trebuchet MS"/>
              <a:cs typeface="Trebuchet MS"/>
            </a:endParaRPr>
          </a:p>
          <a:p>
            <a:pPr marL="260350" indent="-169545">
              <a:lnSpc>
                <a:spcPct val="100000"/>
              </a:lnSpc>
              <a:buFont typeface="Arial MT"/>
              <a:buChar char="•"/>
              <a:tabLst>
                <a:tab pos="260350" algn="l"/>
              </a:tabLst>
            </a:pPr>
            <a:r>
              <a:rPr dirty="0" sz="1100" spc="-25">
                <a:solidFill>
                  <a:srgbClr val="2B91AE"/>
                </a:solidFill>
                <a:latin typeface="Trebuchet MS"/>
                <a:cs typeface="Trebuchet MS"/>
              </a:rPr>
              <a:t>SVM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4432649" y="2327537"/>
            <a:ext cx="331470" cy="76200"/>
            <a:chOff x="4432649" y="2327537"/>
            <a:chExt cx="331470" cy="76200"/>
          </a:xfrm>
        </p:grpSpPr>
        <p:sp>
          <p:nvSpPr>
            <p:cNvPr id="20" name="object 20" descr=""/>
            <p:cNvSpPr/>
            <p:nvPr/>
          </p:nvSpPr>
          <p:spPr>
            <a:xfrm>
              <a:off x="4437411" y="2365494"/>
              <a:ext cx="262890" cy="3175"/>
            </a:xfrm>
            <a:custGeom>
              <a:avLst/>
              <a:gdLst/>
              <a:ahLst/>
              <a:cxnLst/>
              <a:rect l="l" t="t" r="r" b="b"/>
              <a:pathLst>
                <a:path w="262889" h="3175">
                  <a:moveTo>
                    <a:pt x="0" y="2908"/>
                  </a:moveTo>
                  <a:lnTo>
                    <a:pt x="262826" y="0"/>
                  </a:lnTo>
                </a:path>
              </a:pathLst>
            </a:custGeom>
            <a:ln w="952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687116" y="2327537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5" h="76200">
                  <a:moveTo>
                    <a:pt x="0" y="0"/>
                  </a:moveTo>
                  <a:lnTo>
                    <a:pt x="850" y="76200"/>
                  </a:lnTo>
                  <a:lnTo>
                    <a:pt x="76619" y="372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4763744" y="2126627"/>
            <a:ext cx="1435100" cy="476884"/>
          </a:xfrm>
          <a:prstGeom prst="rect">
            <a:avLst/>
          </a:prstGeom>
          <a:ln w="12700">
            <a:solidFill>
              <a:srgbClr val="6FAC46"/>
            </a:solidFill>
          </a:ln>
        </p:spPr>
        <p:txBody>
          <a:bodyPr wrap="square" lIns="0" tIns="144145" rIns="0" bIns="0" rtlCol="0" vert="horz">
            <a:spAutoFit/>
          </a:bodyPr>
          <a:lstStyle/>
          <a:p>
            <a:pPr marL="153670">
              <a:lnSpc>
                <a:spcPct val="100000"/>
              </a:lnSpc>
              <a:spcBef>
                <a:spcPts val="1135"/>
              </a:spcBef>
            </a:pPr>
            <a:r>
              <a:rPr dirty="0" sz="1100" spc="-35">
                <a:latin typeface="Trebuchet MS"/>
                <a:cs typeface="Trebuchet MS"/>
              </a:rPr>
              <a:t>Feature-</a:t>
            </a:r>
            <a:r>
              <a:rPr dirty="0" sz="1100" spc="-10">
                <a:latin typeface="Trebuchet MS"/>
                <a:cs typeface="Trebuchet MS"/>
              </a:rPr>
              <a:t>Generator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837406" y="1158095"/>
            <a:ext cx="60134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>
                <a:latin typeface="Trebuchet MS"/>
                <a:cs typeface="Trebuchet MS"/>
              </a:rPr>
              <a:t>Classifier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6193562" y="1755273"/>
            <a:ext cx="675640" cy="614680"/>
            <a:chOff x="6193562" y="1755273"/>
            <a:chExt cx="675640" cy="614680"/>
          </a:xfrm>
        </p:grpSpPr>
        <p:sp>
          <p:nvSpPr>
            <p:cNvPr id="25" name="object 25" descr=""/>
            <p:cNvSpPr/>
            <p:nvPr/>
          </p:nvSpPr>
          <p:spPr>
            <a:xfrm>
              <a:off x="6198325" y="1793370"/>
              <a:ext cx="607695" cy="571500"/>
            </a:xfrm>
            <a:custGeom>
              <a:avLst/>
              <a:gdLst/>
              <a:ahLst/>
              <a:cxnLst/>
              <a:rect l="l" t="t" r="r" b="b"/>
              <a:pathLst>
                <a:path w="607695" h="571500">
                  <a:moveTo>
                    <a:pt x="0" y="571423"/>
                  </a:moveTo>
                  <a:lnTo>
                    <a:pt x="335305" y="571423"/>
                  </a:lnTo>
                  <a:lnTo>
                    <a:pt x="335305" y="0"/>
                  </a:lnTo>
                  <a:lnTo>
                    <a:pt x="607110" y="0"/>
                  </a:lnTo>
                </a:path>
              </a:pathLst>
            </a:custGeom>
            <a:ln w="952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792732" y="175527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6868934" y="2601429"/>
            <a:ext cx="1329690" cy="561975"/>
          </a:xfrm>
          <a:prstGeom prst="rect">
            <a:avLst/>
          </a:prstGeom>
          <a:ln w="12700">
            <a:solidFill>
              <a:srgbClr val="6FAC46"/>
            </a:solidFill>
          </a:ln>
        </p:spPr>
        <p:txBody>
          <a:bodyPr wrap="square" lIns="0" tIns="107314" rIns="0" bIns="0" rtlCol="0" vert="horz">
            <a:spAutoFit/>
          </a:bodyPr>
          <a:lstStyle/>
          <a:p>
            <a:pPr marL="260350" indent="-16954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60350" algn="l"/>
              </a:tabLst>
            </a:pPr>
            <a:r>
              <a:rPr dirty="0" sz="1100" spc="130">
                <a:solidFill>
                  <a:srgbClr val="2B91AE"/>
                </a:solidFill>
                <a:latin typeface="Trebuchet MS"/>
                <a:cs typeface="Trebuchet MS"/>
              </a:rPr>
              <a:t>Correlation</a:t>
            </a:r>
            <a:endParaRPr sz="1100">
              <a:latin typeface="Trebuchet MS"/>
              <a:cs typeface="Trebuchet MS"/>
            </a:endParaRPr>
          </a:p>
          <a:p>
            <a:pPr marL="260350" indent="-169545">
              <a:lnSpc>
                <a:spcPct val="100000"/>
              </a:lnSpc>
              <a:buFont typeface="Arial MT"/>
              <a:buChar char="•"/>
              <a:tabLst>
                <a:tab pos="260350" algn="l"/>
              </a:tabLst>
            </a:pPr>
            <a:r>
              <a:rPr dirty="0" sz="1100" spc="-25">
                <a:solidFill>
                  <a:srgbClr val="2B91AE"/>
                </a:solidFill>
                <a:latin typeface="Trebuchet MS"/>
                <a:cs typeface="Trebuchet MS"/>
              </a:rPr>
              <a:t>PCA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6872378" y="2389896"/>
            <a:ext cx="53149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>
                <a:latin typeface="Trebuchet MS"/>
                <a:cs typeface="Trebuchet MS"/>
              </a:rPr>
              <a:t>Analysis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2476718" y="1052207"/>
            <a:ext cx="5966460" cy="2793365"/>
            <a:chOff x="2476718" y="1052207"/>
            <a:chExt cx="5966460" cy="2793365"/>
          </a:xfrm>
        </p:grpSpPr>
        <p:sp>
          <p:nvSpPr>
            <p:cNvPr id="30" name="object 30" descr=""/>
            <p:cNvSpPr/>
            <p:nvPr/>
          </p:nvSpPr>
          <p:spPr>
            <a:xfrm>
              <a:off x="6198324" y="2364794"/>
              <a:ext cx="607695" cy="517525"/>
            </a:xfrm>
            <a:custGeom>
              <a:avLst/>
              <a:gdLst/>
              <a:ahLst/>
              <a:cxnLst/>
              <a:rect l="l" t="t" r="r" b="b"/>
              <a:pathLst>
                <a:path w="607695" h="517525">
                  <a:moveTo>
                    <a:pt x="0" y="0"/>
                  </a:moveTo>
                  <a:lnTo>
                    <a:pt x="335305" y="0"/>
                  </a:lnTo>
                  <a:lnTo>
                    <a:pt x="335305" y="517334"/>
                  </a:lnTo>
                  <a:lnTo>
                    <a:pt x="607110" y="517334"/>
                  </a:lnTo>
                </a:path>
              </a:pathLst>
            </a:custGeom>
            <a:ln w="952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6792732" y="284402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2854185" y="1081036"/>
              <a:ext cx="5582285" cy="2758440"/>
            </a:xfrm>
            <a:custGeom>
              <a:avLst/>
              <a:gdLst/>
              <a:ahLst/>
              <a:cxnLst/>
              <a:rect l="l" t="t" r="r" b="b"/>
              <a:pathLst>
                <a:path w="5582284" h="2758440">
                  <a:moveTo>
                    <a:pt x="0" y="0"/>
                  </a:moveTo>
                  <a:lnTo>
                    <a:pt x="5582094" y="0"/>
                  </a:lnTo>
                  <a:lnTo>
                    <a:pt x="5582094" y="2758186"/>
                  </a:lnTo>
                  <a:lnTo>
                    <a:pt x="0" y="2758186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2481480" y="1289268"/>
              <a:ext cx="309245" cy="257810"/>
            </a:xfrm>
            <a:custGeom>
              <a:avLst/>
              <a:gdLst/>
              <a:ahLst/>
              <a:cxnLst/>
              <a:rect l="l" t="t" r="r" b="b"/>
              <a:pathLst>
                <a:path w="309244" h="257809">
                  <a:moveTo>
                    <a:pt x="0" y="257555"/>
                  </a:moveTo>
                  <a:lnTo>
                    <a:pt x="186347" y="257555"/>
                  </a:lnTo>
                  <a:lnTo>
                    <a:pt x="186347" y="0"/>
                  </a:lnTo>
                  <a:lnTo>
                    <a:pt x="309194" y="0"/>
                  </a:lnTo>
                </a:path>
              </a:pathLst>
            </a:custGeom>
            <a:ln w="952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2777978" y="125116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2481480" y="1056970"/>
              <a:ext cx="309245" cy="232410"/>
            </a:xfrm>
            <a:custGeom>
              <a:avLst/>
              <a:gdLst/>
              <a:ahLst/>
              <a:cxnLst/>
              <a:rect l="l" t="t" r="r" b="b"/>
              <a:pathLst>
                <a:path w="309244" h="232409">
                  <a:moveTo>
                    <a:pt x="0" y="0"/>
                  </a:moveTo>
                  <a:lnTo>
                    <a:pt x="186347" y="0"/>
                  </a:lnTo>
                  <a:lnTo>
                    <a:pt x="186347" y="232295"/>
                  </a:lnTo>
                  <a:lnTo>
                    <a:pt x="309194" y="232295"/>
                  </a:lnTo>
                </a:path>
              </a:pathLst>
            </a:custGeom>
            <a:ln w="952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2777978" y="125116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301116" y="4640999"/>
            <a:ext cx="3375660" cy="1845945"/>
          </a:xfrm>
          <a:prstGeom prst="rect">
            <a:avLst/>
          </a:prstGeom>
          <a:ln w="12700">
            <a:solidFill>
              <a:srgbClr val="6FAC46"/>
            </a:solidFill>
          </a:ln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100">
              <a:latin typeface="Times New Roman"/>
              <a:cs typeface="Times New Roman"/>
            </a:endParaRPr>
          </a:p>
          <a:p>
            <a:pPr marL="260350" indent="-169545">
              <a:lnSpc>
                <a:spcPct val="100000"/>
              </a:lnSpc>
              <a:buFont typeface="Arial MT"/>
              <a:buChar char="•"/>
              <a:tabLst>
                <a:tab pos="260350" algn="l"/>
              </a:tabLst>
            </a:pPr>
            <a:r>
              <a:rPr dirty="0" sz="1100" spc="100">
                <a:solidFill>
                  <a:srgbClr val="2B91AE"/>
                </a:solidFill>
                <a:latin typeface="Trebuchet MS"/>
                <a:cs typeface="Trebuchet MS"/>
              </a:rPr>
              <a:t>Export</a:t>
            </a:r>
            <a:endParaRPr sz="1100">
              <a:latin typeface="Trebuchet MS"/>
              <a:cs typeface="Trebuchet MS"/>
            </a:endParaRPr>
          </a:p>
          <a:p>
            <a:pPr lvl="1" marL="718185" indent="-169545">
              <a:lnSpc>
                <a:spcPct val="100000"/>
              </a:lnSpc>
              <a:buFont typeface="Arial MT"/>
              <a:buChar char="•"/>
              <a:tabLst>
                <a:tab pos="718185" algn="l"/>
              </a:tabLst>
            </a:pPr>
            <a:r>
              <a:rPr dirty="0" sz="1100" spc="100">
                <a:solidFill>
                  <a:srgbClr val="2B91AE"/>
                </a:solidFill>
                <a:latin typeface="Trebuchet MS"/>
                <a:cs typeface="Trebuchet MS"/>
              </a:rPr>
              <a:t>Features</a:t>
            </a:r>
            <a:endParaRPr sz="1100">
              <a:latin typeface="Trebuchet MS"/>
              <a:cs typeface="Trebuchet MS"/>
            </a:endParaRPr>
          </a:p>
          <a:p>
            <a:pPr lvl="1" marL="718185" indent="-169545">
              <a:lnSpc>
                <a:spcPct val="100000"/>
              </a:lnSpc>
              <a:buFont typeface="Arial MT"/>
              <a:buChar char="•"/>
              <a:tabLst>
                <a:tab pos="718185" algn="l"/>
              </a:tabLst>
            </a:pPr>
            <a:r>
              <a:rPr dirty="0" sz="1100" spc="50">
                <a:solidFill>
                  <a:srgbClr val="2B91AE"/>
                </a:solidFill>
                <a:latin typeface="Trebuchet MS"/>
                <a:cs typeface="Trebuchet MS"/>
              </a:rPr>
              <a:t>Model</a:t>
            </a:r>
            <a:endParaRPr sz="1100">
              <a:latin typeface="Trebuchet MS"/>
              <a:cs typeface="Trebuchet MS"/>
            </a:endParaRPr>
          </a:p>
          <a:p>
            <a:pPr lvl="1" marL="718185" indent="-169545">
              <a:lnSpc>
                <a:spcPct val="100000"/>
              </a:lnSpc>
              <a:buFont typeface="Arial MT"/>
              <a:buChar char="•"/>
              <a:tabLst>
                <a:tab pos="718185" algn="l"/>
              </a:tabLst>
            </a:pPr>
            <a:r>
              <a:rPr dirty="0" sz="1100" spc="85">
                <a:solidFill>
                  <a:srgbClr val="2B91AE"/>
                </a:solidFill>
                <a:latin typeface="Trebuchet MS"/>
                <a:cs typeface="Trebuchet MS"/>
              </a:rPr>
              <a:t>Performance-</a:t>
            </a:r>
            <a:r>
              <a:rPr dirty="0" sz="1100" spc="50">
                <a:solidFill>
                  <a:srgbClr val="2B91AE"/>
                </a:solidFill>
                <a:latin typeface="Trebuchet MS"/>
                <a:cs typeface="Trebuchet MS"/>
              </a:rPr>
              <a:t>epoch</a:t>
            </a:r>
            <a:r>
              <a:rPr dirty="0" sz="1100" spc="355">
                <a:solidFill>
                  <a:srgbClr val="2B91AE"/>
                </a:solidFill>
                <a:latin typeface="Trebuchet MS"/>
                <a:cs typeface="Trebuchet MS"/>
              </a:rPr>
              <a:t> </a:t>
            </a:r>
            <a:r>
              <a:rPr dirty="0" sz="1100" spc="90">
                <a:solidFill>
                  <a:srgbClr val="2B91AE"/>
                </a:solidFill>
                <a:latin typeface="Trebuchet MS"/>
                <a:cs typeface="Trebuchet MS"/>
              </a:rPr>
              <a:t>curve</a:t>
            </a:r>
            <a:endParaRPr sz="1100">
              <a:latin typeface="Trebuchet MS"/>
              <a:cs typeface="Trebuchet MS"/>
            </a:endParaRPr>
          </a:p>
          <a:p>
            <a:pPr lvl="1" marL="717550" indent="-169545">
              <a:lnSpc>
                <a:spcPct val="100000"/>
              </a:lnSpc>
              <a:buFont typeface="Arial MT"/>
              <a:buChar char="•"/>
              <a:tabLst>
                <a:tab pos="717550" algn="l"/>
              </a:tabLst>
            </a:pPr>
            <a:r>
              <a:rPr dirty="0" sz="1100" spc="135">
                <a:solidFill>
                  <a:srgbClr val="2B91AE"/>
                </a:solidFill>
                <a:latin typeface="Trebuchet MS"/>
                <a:cs typeface="Trebuchet MS"/>
              </a:rPr>
              <a:t>Predictions</a:t>
            </a:r>
            <a:endParaRPr sz="1100">
              <a:latin typeface="Trebuchet MS"/>
              <a:cs typeface="Trebuchet MS"/>
            </a:endParaRPr>
          </a:p>
          <a:p>
            <a:pPr lvl="1" marL="717550" indent="-16954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717550" algn="l"/>
              </a:tabLst>
            </a:pPr>
            <a:r>
              <a:rPr dirty="0" sz="1100" spc="70">
                <a:solidFill>
                  <a:srgbClr val="2B91AE"/>
                </a:solidFill>
                <a:latin typeface="Trebuchet MS"/>
                <a:cs typeface="Trebuchet MS"/>
              </a:rPr>
              <a:t>Performance</a:t>
            </a:r>
            <a:r>
              <a:rPr dirty="0" sz="1100" spc="325">
                <a:solidFill>
                  <a:srgbClr val="2B91AE"/>
                </a:solidFill>
                <a:latin typeface="Trebuchet MS"/>
                <a:cs typeface="Trebuchet MS"/>
              </a:rPr>
              <a:t> </a:t>
            </a:r>
            <a:r>
              <a:rPr dirty="0" sz="1100" spc="125">
                <a:solidFill>
                  <a:srgbClr val="2B91AE"/>
                </a:solidFill>
                <a:latin typeface="Trebuchet MS"/>
                <a:cs typeface="Trebuchet MS"/>
              </a:rPr>
              <a:t>scores</a:t>
            </a:r>
            <a:endParaRPr sz="1100">
              <a:latin typeface="Trebuchet MS"/>
              <a:cs typeface="Trebuchet MS"/>
            </a:endParaRPr>
          </a:p>
          <a:p>
            <a:pPr lvl="1" marL="717550" indent="-169545">
              <a:lnSpc>
                <a:spcPct val="100000"/>
              </a:lnSpc>
              <a:buFont typeface="Arial MT"/>
              <a:buChar char="•"/>
              <a:tabLst>
                <a:tab pos="717550" algn="l"/>
              </a:tabLst>
            </a:pPr>
            <a:r>
              <a:rPr dirty="0" sz="1100" spc="150">
                <a:solidFill>
                  <a:srgbClr val="2B91AE"/>
                </a:solidFill>
                <a:latin typeface="Trebuchet MS"/>
                <a:cs typeface="Trebuchet MS"/>
              </a:rPr>
              <a:t>Plots</a:t>
            </a:r>
            <a:endParaRPr sz="1100">
              <a:latin typeface="Trebuchet MS"/>
              <a:cs typeface="Trebuchet MS"/>
            </a:endParaRPr>
          </a:p>
          <a:p>
            <a:pPr lvl="2" marL="1174750" indent="-169545">
              <a:lnSpc>
                <a:spcPct val="100000"/>
              </a:lnSpc>
              <a:buFont typeface="Arial MT"/>
              <a:buChar char="•"/>
              <a:tabLst>
                <a:tab pos="1174750" algn="l"/>
              </a:tabLst>
            </a:pPr>
            <a:r>
              <a:rPr dirty="0" sz="1100" spc="85">
                <a:solidFill>
                  <a:srgbClr val="2B91AE"/>
                </a:solidFill>
                <a:latin typeface="Trebuchet MS"/>
                <a:cs typeface="Trebuchet MS"/>
              </a:rPr>
              <a:t>Performance-</a:t>
            </a:r>
            <a:r>
              <a:rPr dirty="0" sz="1100" spc="50">
                <a:solidFill>
                  <a:srgbClr val="2B91AE"/>
                </a:solidFill>
                <a:latin typeface="Trebuchet MS"/>
                <a:cs typeface="Trebuchet MS"/>
              </a:rPr>
              <a:t>epoch</a:t>
            </a:r>
            <a:r>
              <a:rPr dirty="0" sz="1100" spc="355">
                <a:solidFill>
                  <a:srgbClr val="2B91AE"/>
                </a:solidFill>
                <a:latin typeface="Trebuchet MS"/>
                <a:cs typeface="Trebuchet MS"/>
              </a:rPr>
              <a:t> </a:t>
            </a:r>
            <a:r>
              <a:rPr dirty="0" sz="1100" spc="90">
                <a:solidFill>
                  <a:srgbClr val="2B91AE"/>
                </a:solidFill>
                <a:latin typeface="Trebuchet MS"/>
                <a:cs typeface="Trebuchet MS"/>
              </a:rPr>
              <a:t>curve</a:t>
            </a:r>
            <a:endParaRPr sz="1100">
              <a:latin typeface="Trebuchet MS"/>
              <a:cs typeface="Trebuchet MS"/>
            </a:endParaRPr>
          </a:p>
          <a:p>
            <a:pPr lvl="2" marL="1174750" indent="-169545">
              <a:lnSpc>
                <a:spcPct val="100000"/>
              </a:lnSpc>
              <a:buFont typeface="Arial MT"/>
              <a:buChar char="•"/>
              <a:tabLst>
                <a:tab pos="1174750" algn="l"/>
              </a:tabLst>
            </a:pPr>
            <a:r>
              <a:rPr dirty="0" sz="1100" spc="70">
                <a:solidFill>
                  <a:srgbClr val="2B91AE"/>
                </a:solidFill>
                <a:latin typeface="Trebuchet MS"/>
                <a:cs typeface="Trebuchet MS"/>
              </a:rPr>
              <a:t>Performance</a:t>
            </a:r>
            <a:r>
              <a:rPr dirty="0" sz="1100" spc="325">
                <a:solidFill>
                  <a:srgbClr val="2B91AE"/>
                </a:solidFill>
                <a:latin typeface="Trebuchet MS"/>
                <a:cs typeface="Trebuchet MS"/>
              </a:rPr>
              <a:t> </a:t>
            </a:r>
            <a:r>
              <a:rPr dirty="0" sz="1100" spc="125">
                <a:solidFill>
                  <a:srgbClr val="2B91AE"/>
                </a:solidFill>
                <a:latin typeface="Trebuchet MS"/>
                <a:cs typeface="Trebuchet MS"/>
              </a:rPr>
              <a:t>scores</a:t>
            </a:r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DESCRIPTION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93112"/>
            <a:ext cx="9521190" cy="398970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Goal: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Identifying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objects’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class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labels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by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means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ML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algorithms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ANN,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SVM,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85">
                <a:latin typeface="Calibri"/>
                <a:cs typeface="Calibri"/>
              </a:rPr>
              <a:t>DT,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K-</a:t>
            </a:r>
            <a:r>
              <a:rPr dirty="0" sz="2800" spc="-25">
                <a:latin typeface="Calibri"/>
                <a:cs typeface="Calibri"/>
              </a:rPr>
              <a:t>NN.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latin typeface="Calibri"/>
                <a:cs typeface="Calibri"/>
              </a:rPr>
              <a:t>Tasks:</a:t>
            </a:r>
            <a:endParaRPr sz="28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34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 spc="-10">
                <a:latin typeface="Calibri"/>
                <a:cs typeface="Calibri"/>
              </a:rPr>
              <a:t>Visualize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 spc="-10">
                <a:latin typeface="Calibri"/>
                <a:cs typeface="Calibri"/>
              </a:rPr>
              <a:t>Preprocess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Design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representation</a:t>
            </a:r>
            <a:endParaRPr sz="2400">
              <a:latin typeface="Calibri"/>
              <a:cs typeface="Calibri"/>
            </a:endParaRPr>
          </a:p>
          <a:p>
            <a:pPr lvl="2" marL="1155065" indent="-228600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1155065" algn="l"/>
              </a:tabLst>
            </a:pPr>
            <a:r>
              <a:rPr dirty="0" sz="2000">
                <a:latin typeface="Calibri"/>
                <a:cs typeface="Calibri"/>
              </a:rPr>
              <a:t>Extract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features</a:t>
            </a:r>
            <a:endParaRPr sz="2000">
              <a:latin typeface="Calibri"/>
              <a:cs typeface="Calibri"/>
            </a:endParaRPr>
          </a:p>
          <a:p>
            <a:pPr lvl="2" marL="1155065" indent="-22860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1155065" algn="l"/>
              </a:tabLst>
            </a:pPr>
            <a:r>
              <a:rPr dirty="0" sz="2000">
                <a:latin typeface="Calibri"/>
                <a:cs typeface="Calibri"/>
              </a:rPr>
              <a:t>Explore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feature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distributions</a:t>
            </a:r>
            <a:endParaRPr sz="20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185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Design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create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model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Conduct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model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assessment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0"/>
              <a:t>INSTRUCTIONS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93112"/>
            <a:ext cx="9618345" cy="382524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Develop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machine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learning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application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using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Python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related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libraries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can</a:t>
            </a:r>
            <a:endParaRPr sz="28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190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 spc="-25">
                <a:latin typeface="Calibri"/>
                <a:cs typeface="Calibri"/>
              </a:rPr>
              <a:t>Pre-</a:t>
            </a:r>
            <a:r>
              <a:rPr dirty="0" sz="2400">
                <a:latin typeface="Calibri"/>
                <a:cs typeface="Calibri"/>
              </a:rPr>
              <a:t>process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data,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Create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ML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models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based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methods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k-</a:t>
            </a:r>
            <a:r>
              <a:rPr dirty="0" sz="2400">
                <a:latin typeface="Calibri"/>
                <a:cs typeface="Calibri"/>
              </a:rPr>
              <a:t>NN,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ANN,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SVM,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DT.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 spc="-10">
                <a:latin typeface="Calibri"/>
                <a:cs typeface="Calibri"/>
              </a:rPr>
              <a:t>Display/export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results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model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parameters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Add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“Team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Member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Participation”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your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report.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latin typeface="Calibri"/>
                <a:cs typeface="Calibri"/>
              </a:rPr>
              <a:t>Submission</a:t>
            </a:r>
            <a:endParaRPr sz="28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Submit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project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at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GitHub.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Submit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your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code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your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PPT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Canvas.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388" y="-46050"/>
            <a:ext cx="418592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25"/>
              <a:t>CODING</a:t>
            </a:r>
            <a:r>
              <a:rPr dirty="0" sz="4000" spc="-185"/>
              <a:t> </a:t>
            </a:r>
            <a:r>
              <a:rPr dirty="0" sz="4000" spc="-70"/>
              <a:t>STANDARDS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61798" y="758568"/>
            <a:ext cx="10291445" cy="5024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ts val="2135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Calibri"/>
                <a:cs typeface="Calibri"/>
              </a:rPr>
              <a:t>Coding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must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follow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readability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requirements.</a:t>
            </a:r>
            <a:endParaRPr sz="1800">
              <a:latin typeface="Calibri"/>
              <a:cs typeface="Calibri"/>
            </a:endParaRPr>
          </a:p>
          <a:p>
            <a:pPr lvl="1" marL="697865" indent="-227965">
              <a:lnSpc>
                <a:spcPts val="1760"/>
              </a:lnSpc>
              <a:buFont typeface="Arial MT"/>
              <a:buChar char="•"/>
              <a:tabLst>
                <a:tab pos="697865" algn="l"/>
              </a:tabLst>
            </a:pPr>
            <a:r>
              <a:rPr dirty="0" sz="1500">
                <a:latin typeface="Calibri"/>
                <a:cs typeface="Calibri"/>
              </a:rPr>
              <a:t>Use</a:t>
            </a:r>
            <a:r>
              <a:rPr dirty="0" sz="1500" spc="1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self-explanatory</a:t>
            </a:r>
            <a:r>
              <a:rPr dirty="0" sz="1500" spc="-1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naming</a:t>
            </a:r>
            <a:endParaRPr sz="1500">
              <a:latin typeface="Calibri"/>
              <a:cs typeface="Calibri"/>
            </a:endParaRPr>
          </a:p>
          <a:p>
            <a:pPr lvl="1" marL="697865" indent="-227965">
              <a:lnSpc>
                <a:spcPts val="1764"/>
              </a:lnSpc>
              <a:buFont typeface="Arial MT"/>
              <a:buChar char="•"/>
              <a:tabLst>
                <a:tab pos="697865" algn="l"/>
              </a:tabLst>
            </a:pPr>
            <a:r>
              <a:rPr dirty="0" sz="1500">
                <a:latin typeface="Calibri"/>
                <a:cs typeface="Calibri"/>
              </a:rPr>
              <a:t>Place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proper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comments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that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describes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the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logic</a:t>
            </a:r>
            <a:endParaRPr sz="1500">
              <a:latin typeface="Calibri"/>
              <a:cs typeface="Calibri"/>
            </a:endParaRPr>
          </a:p>
          <a:p>
            <a:pPr lvl="1" marL="697865" indent="-227965">
              <a:lnSpc>
                <a:spcPts val="1780"/>
              </a:lnSpc>
              <a:buFont typeface="Arial MT"/>
              <a:buChar char="•"/>
              <a:tabLst>
                <a:tab pos="697865" algn="l"/>
              </a:tabLst>
            </a:pPr>
            <a:r>
              <a:rPr dirty="0" sz="1500">
                <a:latin typeface="Calibri"/>
                <a:cs typeface="Calibri"/>
              </a:rPr>
              <a:t>Divide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the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code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into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proper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procedural</a:t>
            </a:r>
            <a:r>
              <a:rPr dirty="0" sz="1500" spc="-5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sections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such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as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 spc="-15">
                <a:latin typeface="Calibri"/>
                <a:cs typeface="Calibri"/>
              </a:rPr>
              <a:t>{Pre-</a:t>
            </a:r>
            <a:r>
              <a:rPr dirty="0" sz="1500">
                <a:latin typeface="Calibri"/>
                <a:cs typeface="Calibri"/>
              </a:rPr>
              <a:t>processing,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Model,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Assessment}.</a:t>
            </a:r>
            <a:endParaRPr sz="15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4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Calibri"/>
                <a:cs typeface="Calibri"/>
              </a:rPr>
              <a:t>Must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efficient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terms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time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memory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allocation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Calibri"/>
                <a:cs typeface="Calibri"/>
              </a:rPr>
              <a:t>User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interface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must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allow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select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input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data,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export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model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parameters,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export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test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results.</a:t>
            </a:r>
            <a:endParaRPr sz="1800">
              <a:latin typeface="Calibri"/>
              <a:cs typeface="Calibri"/>
            </a:endParaRPr>
          </a:p>
          <a:p>
            <a:pPr marL="241300" marR="401955" indent="-228600">
              <a:lnSpc>
                <a:spcPct val="7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Calibri"/>
                <a:cs typeface="Calibri"/>
              </a:rPr>
              <a:t>Use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GitHub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share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your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code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your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team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member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your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30">
                <a:latin typeface="Calibri"/>
                <a:cs typeface="Calibri"/>
              </a:rPr>
              <a:t>professor.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Name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your </a:t>
            </a:r>
            <a:r>
              <a:rPr dirty="0" sz="1800">
                <a:latin typeface="Calibri"/>
                <a:cs typeface="Calibri"/>
              </a:rPr>
              <a:t>repository</a:t>
            </a:r>
            <a:r>
              <a:rPr dirty="0" sz="1800" spc="-10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as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ts val="2140"/>
              </a:lnSpc>
              <a:spcBef>
                <a:spcPts val="34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 spc="-10">
                <a:latin typeface="Calibri"/>
                <a:cs typeface="Calibri"/>
              </a:rPr>
              <a:t>"cmpsML_TEAM</a:t>
            </a:r>
            <a:r>
              <a:rPr dirty="0" sz="180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NAME".</a:t>
            </a:r>
            <a:endParaRPr sz="1800">
              <a:latin typeface="Calibri"/>
              <a:cs typeface="Calibri"/>
            </a:endParaRPr>
          </a:p>
          <a:p>
            <a:pPr lvl="1" marL="697865" indent="-227965">
              <a:lnSpc>
                <a:spcPts val="1780"/>
              </a:lnSpc>
              <a:buFont typeface="Arial MT"/>
              <a:buChar char="•"/>
              <a:tabLst>
                <a:tab pos="697865" algn="l"/>
              </a:tabLst>
            </a:pPr>
            <a:r>
              <a:rPr dirty="0" sz="1500" spc="-10">
                <a:latin typeface="Calibri"/>
                <a:cs typeface="Calibri"/>
              </a:rPr>
              <a:t>Repository</a:t>
            </a:r>
            <a:r>
              <a:rPr dirty="0" sz="1500" spc="1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structure:</a:t>
            </a:r>
            <a:endParaRPr sz="1500">
              <a:latin typeface="Calibri"/>
              <a:cs typeface="Calibri"/>
            </a:endParaRPr>
          </a:p>
          <a:p>
            <a:pPr lvl="2" marL="1155065" indent="-22796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1155065" algn="l"/>
              </a:tabLst>
            </a:pPr>
            <a:r>
              <a:rPr dirty="0" sz="1300" spc="-20">
                <a:latin typeface="Calibri"/>
                <a:cs typeface="Calibri"/>
              </a:rPr>
              <a:t>CODE</a:t>
            </a:r>
            <a:endParaRPr sz="1300">
              <a:latin typeface="Calibri"/>
              <a:cs typeface="Calibri"/>
            </a:endParaRPr>
          </a:p>
          <a:p>
            <a:pPr lvl="3" marL="16122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612265" algn="l"/>
              </a:tabLst>
            </a:pPr>
            <a:r>
              <a:rPr dirty="0" sz="1100" spc="-10">
                <a:latin typeface="Calibri"/>
                <a:cs typeface="Calibri"/>
              </a:rPr>
              <a:t>INPUT</a:t>
            </a:r>
            <a:endParaRPr sz="1100">
              <a:latin typeface="Calibri"/>
              <a:cs typeface="Calibri"/>
            </a:endParaRPr>
          </a:p>
          <a:p>
            <a:pPr lvl="3" marL="1612265" indent="-22796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1612265" algn="l"/>
              </a:tabLst>
            </a:pPr>
            <a:r>
              <a:rPr dirty="0" sz="1100" spc="-10">
                <a:latin typeface="Calibri"/>
                <a:cs typeface="Calibri"/>
              </a:rPr>
              <a:t>OUTPUT</a:t>
            </a:r>
            <a:endParaRPr sz="1100">
              <a:latin typeface="Calibri"/>
              <a:cs typeface="Calibri"/>
            </a:endParaRPr>
          </a:p>
          <a:p>
            <a:pPr lvl="3" marL="16122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1612265" algn="l"/>
              </a:tabLst>
            </a:pPr>
            <a:r>
              <a:rPr dirty="0" sz="1100" spc="-10">
                <a:latin typeface="Calibri"/>
                <a:cs typeface="Calibri"/>
              </a:rPr>
              <a:t>MODEL</a:t>
            </a:r>
            <a:endParaRPr sz="1100">
              <a:latin typeface="Calibri"/>
              <a:cs typeface="Calibri"/>
            </a:endParaRPr>
          </a:p>
          <a:p>
            <a:pPr lvl="2" marL="1155065" indent="-227965">
              <a:lnSpc>
                <a:spcPct val="100000"/>
              </a:lnSpc>
              <a:spcBef>
                <a:spcPts val="40"/>
              </a:spcBef>
              <a:buFont typeface="Arial MT"/>
              <a:buChar char="•"/>
              <a:tabLst>
                <a:tab pos="1155065" algn="l"/>
              </a:tabLst>
            </a:pPr>
            <a:r>
              <a:rPr dirty="0" sz="1300" spc="-25">
                <a:latin typeface="Calibri"/>
                <a:cs typeface="Calibri"/>
              </a:rPr>
              <a:t>DOC</a:t>
            </a:r>
            <a:endParaRPr sz="1300">
              <a:latin typeface="Calibri"/>
              <a:cs typeface="Calibri"/>
            </a:endParaRPr>
          </a:p>
          <a:p>
            <a:pPr lvl="2" marL="1155065" indent="-22796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1155065" algn="l"/>
              </a:tabLst>
            </a:pPr>
            <a:r>
              <a:rPr dirty="0" sz="1300" spc="-10">
                <a:latin typeface="Calibri"/>
                <a:cs typeface="Calibri"/>
              </a:rPr>
              <a:t>OTHER</a:t>
            </a:r>
            <a:endParaRPr sz="1300">
              <a:latin typeface="Calibri"/>
              <a:cs typeface="Calibri"/>
            </a:endParaRPr>
          </a:p>
          <a:p>
            <a:pPr marL="240665" indent="-227965">
              <a:lnSpc>
                <a:spcPts val="2140"/>
              </a:lnSpc>
              <a:spcBef>
                <a:spcPts val="35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 spc="-25">
                <a:latin typeface="Calibri"/>
                <a:cs typeface="Calibri"/>
              </a:rPr>
              <a:t>Your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program</a:t>
            </a:r>
            <a:r>
              <a:rPr dirty="0" sz="1800" spc="-9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must</a:t>
            </a:r>
            <a:endParaRPr sz="1800">
              <a:latin typeface="Calibri"/>
              <a:cs typeface="Calibri"/>
            </a:endParaRPr>
          </a:p>
          <a:p>
            <a:pPr lvl="1" marL="697865" indent="-227965">
              <a:lnSpc>
                <a:spcPts val="1760"/>
              </a:lnSpc>
              <a:buFont typeface="Arial MT"/>
              <a:buChar char="•"/>
              <a:tabLst>
                <a:tab pos="697865" algn="l"/>
              </a:tabLst>
            </a:pPr>
            <a:r>
              <a:rPr dirty="0" sz="1500">
                <a:latin typeface="Calibri"/>
                <a:cs typeface="Calibri"/>
              </a:rPr>
              <a:t>read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from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file(s)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located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in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the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folder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INPUT\TRAIN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and</a:t>
            </a:r>
            <a:r>
              <a:rPr dirty="0" sz="1500" spc="-7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INPUT\TEST.</a:t>
            </a:r>
            <a:endParaRPr sz="1500">
              <a:latin typeface="Calibri"/>
              <a:cs typeface="Calibri"/>
            </a:endParaRPr>
          </a:p>
          <a:p>
            <a:pPr lvl="1" marL="697865" indent="-227965">
              <a:lnSpc>
                <a:spcPts val="1760"/>
              </a:lnSpc>
              <a:buFont typeface="Arial MT"/>
              <a:buChar char="•"/>
              <a:tabLst>
                <a:tab pos="697865" algn="l"/>
              </a:tabLst>
            </a:pPr>
            <a:r>
              <a:rPr dirty="0" sz="1500">
                <a:latin typeface="Calibri"/>
                <a:cs typeface="Calibri"/>
              </a:rPr>
              <a:t>export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outputs</a:t>
            </a:r>
            <a:r>
              <a:rPr dirty="0" sz="1500" spc="-8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(test</a:t>
            </a:r>
            <a:r>
              <a:rPr dirty="0" sz="1500" spc="-5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results,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images,</a:t>
            </a:r>
            <a:r>
              <a:rPr dirty="0" sz="1500" spc="-6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etc.)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into</a:t>
            </a:r>
            <a:r>
              <a:rPr dirty="0" sz="1500" spc="-5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the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folder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OUTPUT.</a:t>
            </a:r>
            <a:endParaRPr sz="1500">
              <a:latin typeface="Calibri"/>
              <a:cs typeface="Calibri"/>
            </a:endParaRPr>
          </a:p>
          <a:p>
            <a:pPr lvl="1" marL="697865" indent="-227965">
              <a:lnSpc>
                <a:spcPts val="1764"/>
              </a:lnSpc>
              <a:buFont typeface="Arial MT"/>
              <a:buChar char="•"/>
              <a:tabLst>
                <a:tab pos="697865" algn="l"/>
              </a:tabLst>
            </a:pPr>
            <a:r>
              <a:rPr dirty="0" sz="1500">
                <a:latin typeface="Calibri"/>
                <a:cs typeface="Calibri"/>
              </a:rPr>
              <a:t>export</a:t>
            </a:r>
            <a:r>
              <a:rPr dirty="0" sz="1500" spc="-5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model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parameters</a:t>
            </a:r>
            <a:r>
              <a:rPr dirty="0" sz="1500" spc="-5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into</a:t>
            </a:r>
            <a:r>
              <a:rPr dirty="0" sz="1500" spc="-6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the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folder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MODEL.</a:t>
            </a:r>
            <a:endParaRPr sz="1500">
              <a:latin typeface="Calibri"/>
              <a:cs typeface="Calibri"/>
            </a:endParaRPr>
          </a:p>
          <a:p>
            <a:pPr lvl="1" marL="697865" indent="-227965">
              <a:lnSpc>
                <a:spcPts val="1780"/>
              </a:lnSpc>
              <a:buFont typeface="Arial MT"/>
              <a:buChar char="•"/>
              <a:tabLst>
                <a:tab pos="697865" algn="l"/>
              </a:tabLst>
            </a:pPr>
            <a:r>
              <a:rPr dirty="0" sz="1500">
                <a:latin typeface="Calibri"/>
                <a:cs typeface="Calibri"/>
              </a:rPr>
              <a:t>be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able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to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import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model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parameters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and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run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the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test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at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another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time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after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creating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the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model.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388" y="-46050"/>
            <a:ext cx="418592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25"/>
              <a:t>CODING</a:t>
            </a:r>
            <a:r>
              <a:rPr dirty="0" sz="4000" spc="-185"/>
              <a:t> </a:t>
            </a:r>
            <a:r>
              <a:rPr dirty="0" sz="4000" spc="-70"/>
              <a:t>STANDARDS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61544" y="713540"/>
            <a:ext cx="10342880" cy="534289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60985" indent="-248285">
              <a:lnSpc>
                <a:spcPct val="100000"/>
              </a:lnSpc>
              <a:spcBef>
                <a:spcPts val="375"/>
              </a:spcBef>
              <a:buAutoNum type="arabicPeriod"/>
              <a:tabLst>
                <a:tab pos="260985" algn="l"/>
              </a:tabLst>
            </a:pPr>
            <a:r>
              <a:rPr dirty="0" sz="2000">
                <a:latin typeface="Calibri"/>
                <a:cs typeface="Calibri"/>
              </a:rPr>
              <a:t>Make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code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generic.</a:t>
            </a:r>
            <a:endParaRPr sz="2000">
              <a:latin typeface="Calibri"/>
              <a:cs typeface="Calibri"/>
            </a:endParaRPr>
          </a:p>
          <a:p>
            <a:pPr marL="261620" indent="-24892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261620" algn="l"/>
              </a:tabLst>
            </a:pPr>
            <a:r>
              <a:rPr dirty="0" sz="2000">
                <a:latin typeface="Calibri"/>
                <a:cs typeface="Calibri"/>
              </a:rPr>
              <a:t>Code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must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efficient</a:t>
            </a:r>
            <a:r>
              <a:rPr dirty="0" sz="2000" spc="-25">
                <a:latin typeface="Calibri"/>
                <a:cs typeface="Calibri"/>
              </a:rPr>
              <a:t> (data-</a:t>
            </a:r>
            <a:r>
              <a:rPr dirty="0" sz="2000">
                <a:latin typeface="Calibri"/>
                <a:cs typeface="Calibri"/>
              </a:rPr>
              <a:t>structure,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functionality).</a:t>
            </a:r>
            <a:endParaRPr sz="2000">
              <a:latin typeface="Calibri"/>
              <a:cs typeface="Calibri"/>
            </a:endParaRPr>
          </a:p>
          <a:p>
            <a:pPr marL="260985" indent="-248285">
              <a:lnSpc>
                <a:spcPct val="100000"/>
              </a:lnSpc>
              <a:spcBef>
                <a:spcPts val="285"/>
              </a:spcBef>
              <a:buAutoNum type="arabicPeriod"/>
              <a:tabLst>
                <a:tab pos="260985" algn="l"/>
              </a:tabLst>
            </a:pPr>
            <a:r>
              <a:rPr dirty="0" sz="2000">
                <a:latin typeface="Calibri"/>
                <a:cs typeface="Calibri"/>
              </a:rPr>
              <a:t>Use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relative path.</a:t>
            </a:r>
            <a:endParaRPr sz="2000">
              <a:latin typeface="Calibri"/>
              <a:cs typeface="Calibri"/>
            </a:endParaRPr>
          </a:p>
          <a:p>
            <a:pPr marL="260985" indent="-248285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260985" algn="l"/>
              </a:tabLst>
            </a:pPr>
            <a:r>
              <a:rPr dirty="0" sz="2000">
                <a:latin typeface="Calibri"/>
                <a:cs typeface="Calibri"/>
              </a:rPr>
              <a:t>Comment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adequately.</a:t>
            </a:r>
            <a:endParaRPr sz="2000">
              <a:latin typeface="Calibri"/>
              <a:cs typeface="Calibri"/>
            </a:endParaRPr>
          </a:p>
          <a:p>
            <a:pPr lvl="1" marL="1183640" indent="-256540">
              <a:lnSpc>
                <a:spcPct val="100000"/>
              </a:lnSpc>
              <a:spcBef>
                <a:spcPts val="275"/>
              </a:spcBef>
              <a:buAutoNum type="alphaLcParenR"/>
              <a:tabLst>
                <a:tab pos="1183640" algn="l"/>
              </a:tabLst>
            </a:pPr>
            <a:r>
              <a:rPr dirty="0" sz="2000">
                <a:latin typeface="Calibri"/>
                <a:cs typeface="Calibri"/>
              </a:rPr>
              <a:t>Add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comment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code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block,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such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loop-</a:t>
            </a:r>
            <a:r>
              <a:rPr dirty="0" sz="2000">
                <a:latin typeface="Calibri"/>
                <a:cs typeface="Calibri"/>
              </a:rPr>
              <a:t>block,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describe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functionality</a:t>
            </a:r>
            <a:endParaRPr sz="2000">
              <a:latin typeface="Calibri"/>
              <a:cs typeface="Calibri"/>
            </a:endParaRPr>
          </a:p>
          <a:p>
            <a:pPr marL="260985" indent="-248285">
              <a:lnSpc>
                <a:spcPct val="100000"/>
              </a:lnSpc>
              <a:spcBef>
                <a:spcPts val="290"/>
              </a:spcBef>
              <a:buAutoNum type="arabicPeriod"/>
              <a:tabLst>
                <a:tab pos="260985" algn="l"/>
              </a:tabLst>
            </a:pPr>
            <a:r>
              <a:rPr dirty="0" sz="2000" spc="-10">
                <a:latin typeface="Calibri"/>
                <a:cs typeface="Calibri"/>
              </a:rPr>
              <a:t>Always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secure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data-</a:t>
            </a:r>
            <a:r>
              <a:rPr dirty="0" sz="2000">
                <a:latin typeface="Calibri"/>
                <a:cs typeface="Calibri"/>
              </a:rPr>
              <a:t>types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(such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immutables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types).</a:t>
            </a:r>
            <a:endParaRPr sz="2000">
              <a:latin typeface="Calibri"/>
              <a:cs typeface="Calibri"/>
            </a:endParaRPr>
          </a:p>
          <a:p>
            <a:pPr marL="260985" indent="-248285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260985" algn="l"/>
              </a:tabLst>
            </a:pPr>
            <a:r>
              <a:rPr dirty="0" sz="2000" spc="-10">
                <a:latin typeface="Calibri"/>
                <a:cs typeface="Calibri"/>
              </a:rPr>
              <a:t>Always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test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your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code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artificial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whose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return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value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known.</a:t>
            </a:r>
            <a:endParaRPr sz="2000">
              <a:latin typeface="Calibri"/>
              <a:cs typeface="Calibri"/>
            </a:endParaRPr>
          </a:p>
          <a:p>
            <a:pPr marL="260985" indent="-248285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260985" algn="l"/>
              </a:tabLst>
            </a:pPr>
            <a:r>
              <a:rPr dirty="0" sz="2000">
                <a:latin typeface="Calibri"/>
                <a:cs typeface="Calibri"/>
              </a:rPr>
              <a:t>Make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variables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names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self-explanatory.</a:t>
            </a:r>
            <a:endParaRPr sz="2000">
              <a:latin typeface="Calibri"/>
              <a:cs typeface="Calibri"/>
            </a:endParaRPr>
          </a:p>
          <a:p>
            <a:pPr marL="207010" indent="-205104">
              <a:lnSpc>
                <a:spcPct val="100000"/>
              </a:lnSpc>
              <a:spcBef>
                <a:spcPts val="285"/>
              </a:spcBef>
              <a:buAutoNum type="arabicPeriod"/>
              <a:tabLst>
                <a:tab pos="207010" algn="l"/>
              </a:tabLst>
            </a:pPr>
            <a:r>
              <a:rPr dirty="0" sz="2000">
                <a:latin typeface="Calibri"/>
                <a:cs typeface="Calibri"/>
              </a:rPr>
              <a:t>Add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symbol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#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block.</a:t>
            </a:r>
            <a:endParaRPr sz="2000">
              <a:latin typeface="Calibri"/>
              <a:cs typeface="Calibri"/>
            </a:endParaRPr>
          </a:p>
          <a:p>
            <a:pPr marL="260985" indent="-248285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260985" algn="l"/>
              </a:tabLst>
            </a:pPr>
            <a:r>
              <a:rPr dirty="0" sz="2000">
                <a:latin typeface="Calibri"/>
                <a:cs typeface="Calibri"/>
              </a:rPr>
              <a:t>Do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calculate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common/constant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value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inside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loop.</a:t>
            </a:r>
            <a:endParaRPr sz="2000">
              <a:latin typeface="Calibri"/>
              <a:cs typeface="Calibri"/>
            </a:endParaRPr>
          </a:p>
          <a:p>
            <a:pPr marL="388620" indent="-375920">
              <a:lnSpc>
                <a:spcPct val="100000"/>
              </a:lnSpc>
              <a:spcBef>
                <a:spcPts val="280"/>
              </a:spcBef>
              <a:buAutoNum type="arabicPeriod"/>
              <a:tabLst>
                <a:tab pos="388620" algn="l"/>
              </a:tabLst>
            </a:pPr>
            <a:r>
              <a:rPr dirty="0" sz="2000">
                <a:latin typeface="Calibri"/>
                <a:cs typeface="Calibri"/>
              </a:rPr>
              <a:t>Avoid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initializing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variables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inside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loop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unless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required.</a:t>
            </a:r>
            <a:endParaRPr sz="2000">
              <a:latin typeface="Calibri"/>
              <a:cs typeface="Calibri"/>
            </a:endParaRPr>
          </a:p>
          <a:p>
            <a:pPr marL="12700" marR="289560" indent="375920">
              <a:lnSpc>
                <a:spcPct val="70000"/>
              </a:lnSpc>
              <a:spcBef>
                <a:spcPts val="1005"/>
              </a:spcBef>
              <a:buAutoNum type="arabicPeriod"/>
              <a:tabLst>
                <a:tab pos="388620" algn="l"/>
              </a:tabLst>
            </a:pPr>
            <a:r>
              <a:rPr dirty="0" sz="2000">
                <a:latin typeface="Calibri"/>
                <a:cs typeface="Calibri"/>
              </a:rPr>
              <a:t>Initialize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objects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None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(null)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(NOT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zero)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their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size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known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instead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using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append-</a:t>
            </a:r>
            <a:r>
              <a:rPr dirty="0" sz="2000" spc="-20">
                <a:latin typeface="Calibri"/>
                <a:cs typeface="Calibri"/>
              </a:rPr>
              <a:t>like </a:t>
            </a:r>
            <a:r>
              <a:rPr dirty="0" sz="2000" spc="-10">
                <a:latin typeface="Calibri"/>
                <a:cs typeface="Calibri"/>
              </a:rPr>
              <a:t>methods.</a:t>
            </a:r>
            <a:endParaRPr sz="2000">
              <a:latin typeface="Calibri"/>
              <a:cs typeface="Calibri"/>
            </a:endParaRPr>
          </a:p>
          <a:p>
            <a:pPr marL="388620" indent="-37592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388620" algn="l"/>
              </a:tabLst>
            </a:pPr>
            <a:r>
              <a:rPr dirty="0" sz="2000">
                <a:latin typeface="Calibri"/>
                <a:cs typeface="Calibri"/>
              </a:rPr>
              <a:t>Save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categorized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folders.</a:t>
            </a:r>
            <a:endParaRPr sz="2000">
              <a:latin typeface="Calibri"/>
              <a:cs typeface="Calibri"/>
            </a:endParaRPr>
          </a:p>
          <a:p>
            <a:pPr marL="388620" indent="-37592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388620" algn="l"/>
              </a:tabLst>
            </a:pPr>
            <a:r>
              <a:rPr dirty="0" sz="2000">
                <a:latin typeface="Calibri"/>
                <a:cs typeface="Calibri"/>
              </a:rPr>
              <a:t>Legends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should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good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enough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30">
                <a:latin typeface="Calibri"/>
                <a:cs typeface="Calibri"/>
              </a:rPr>
              <a:t>color,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linestyle,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shape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etc.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distinguish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series.</a:t>
            </a:r>
            <a:endParaRPr sz="2000">
              <a:latin typeface="Calibri"/>
              <a:cs typeface="Calibri"/>
            </a:endParaRPr>
          </a:p>
          <a:p>
            <a:pPr marL="388620" indent="-375920">
              <a:lnSpc>
                <a:spcPct val="100000"/>
              </a:lnSpc>
              <a:spcBef>
                <a:spcPts val="290"/>
              </a:spcBef>
              <a:buAutoNum type="arabicPeriod"/>
              <a:tabLst>
                <a:tab pos="388620" algn="l"/>
              </a:tabLst>
            </a:pPr>
            <a:r>
              <a:rPr dirty="0" sz="2000" spc="-10">
                <a:latin typeface="Calibri"/>
                <a:cs typeface="Calibri"/>
              </a:rPr>
              <a:t>Pay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attention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aesthetics.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DESCRIPTION</a:t>
            </a:r>
            <a:r>
              <a:rPr dirty="0" spc="-70"/>
              <a:t> </a:t>
            </a:r>
            <a:r>
              <a:rPr dirty="0"/>
              <a:t>OF</a:t>
            </a:r>
            <a:r>
              <a:rPr dirty="0" spc="-65"/>
              <a:t> </a:t>
            </a:r>
            <a:r>
              <a:rPr dirty="0"/>
              <a:t>THE</a:t>
            </a:r>
            <a:r>
              <a:rPr dirty="0" spc="-70"/>
              <a:t> </a:t>
            </a:r>
            <a:r>
              <a:rPr dirty="0" spc="-10"/>
              <a:t>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822"/>
            <a:ext cx="727265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DESCRIPTION</a:t>
            </a:r>
            <a:r>
              <a:rPr dirty="0" spc="-100"/>
              <a:t> </a:t>
            </a:r>
            <a:r>
              <a:rPr dirty="0"/>
              <a:t>OF</a:t>
            </a:r>
            <a:r>
              <a:rPr dirty="0" spc="-95"/>
              <a:t> </a:t>
            </a:r>
            <a:r>
              <a:rPr dirty="0"/>
              <a:t>THE</a:t>
            </a:r>
            <a:r>
              <a:rPr dirty="0" spc="-95"/>
              <a:t> </a:t>
            </a:r>
            <a:r>
              <a:rPr dirty="0"/>
              <a:t>RAW</a:t>
            </a:r>
            <a:r>
              <a:rPr dirty="0" spc="-110"/>
              <a:t> </a:t>
            </a:r>
            <a:r>
              <a:rPr dirty="0" spc="-140"/>
              <a:t>DATA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07159"/>
            <a:ext cx="6075045" cy="234886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Data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source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latin typeface="Calibri"/>
                <a:cs typeface="Calibri"/>
              </a:rPr>
              <a:t>Attributes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their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types</a:t>
            </a:r>
            <a:endParaRPr sz="28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Use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table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4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Distribution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values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each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attributes</a:t>
            </a:r>
            <a:endParaRPr sz="28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Use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appropriate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charts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PREPROCESSING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07159"/>
            <a:ext cx="7075170" cy="156019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Explain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what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you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have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done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30">
                <a:latin typeface="Calibri"/>
                <a:cs typeface="Calibri"/>
              </a:rPr>
              <a:t>pre-</a:t>
            </a:r>
            <a:r>
              <a:rPr dirty="0" sz="2800" spc="-10">
                <a:latin typeface="Calibri"/>
                <a:cs typeface="Calibri"/>
              </a:rPr>
              <a:t>processing.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Report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parameters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used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30">
                <a:latin typeface="Calibri"/>
                <a:cs typeface="Calibri"/>
              </a:rPr>
              <a:t>pre-</a:t>
            </a:r>
            <a:r>
              <a:rPr dirty="0" sz="2800" spc="-10">
                <a:latin typeface="Calibri"/>
                <a:cs typeface="Calibri"/>
              </a:rPr>
              <a:t>processing.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Provide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samples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 spc="-30">
                <a:latin typeface="Calibri"/>
                <a:cs typeface="Calibri"/>
              </a:rPr>
              <a:t>pre-</a:t>
            </a:r>
            <a:r>
              <a:rPr dirty="0" sz="2800">
                <a:latin typeface="Calibri"/>
                <a:cs typeface="Calibri"/>
              </a:rPr>
              <a:t>processed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data.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30"/>
              <a:t>FEATURE</a:t>
            </a:r>
            <a:r>
              <a:rPr dirty="0" spc="-105"/>
              <a:t> </a:t>
            </a:r>
            <a:r>
              <a:rPr dirty="0"/>
              <a:t>EXTRACTION</a:t>
            </a:r>
            <a:r>
              <a:rPr dirty="0" spc="-130"/>
              <a:t> </a:t>
            </a:r>
            <a:r>
              <a:rPr dirty="0"/>
              <a:t>&amp;</a:t>
            </a:r>
            <a:r>
              <a:rPr dirty="0" spc="-114"/>
              <a:t> </a:t>
            </a:r>
            <a:r>
              <a:rPr dirty="0" spc="-10"/>
              <a:t>DESCRIPTION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9779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Explain</a:t>
            </a:r>
            <a:r>
              <a:rPr dirty="0" spc="-75"/>
              <a:t> </a:t>
            </a:r>
            <a:r>
              <a:rPr dirty="0"/>
              <a:t>what</a:t>
            </a:r>
            <a:r>
              <a:rPr dirty="0" spc="-80"/>
              <a:t> </a:t>
            </a:r>
            <a:r>
              <a:rPr dirty="0"/>
              <a:t>you</a:t>
            </a:r>
            <a:r>
              <a:rPr dirty="0" spc="-60"/>
              <a:t> </a:t>
            </a:r>
            <a:r>
              <a:rPr dirty="0"/>
              <a:t>have</a:t>
            </a:r>
            <a:r>
              <a:rPr dirty="0" spc="-80"/>
              <a:t> </a:t>
            </a:r>
            <a:r>
              <a:rPr dirty="0"/>
              <a:t>done</a:t>
            </a:r>
            <a:r>
              <a:rPr dirty="0" spc="-65"/>
              <a:t> </a:t>
            </a:r>
            <a:r>
              <a:rPr dirty="0"/>
              <a:t>for</a:t>
            </a:r>
            <a:r>
              <a:rPr dirty="0" spc="-70"/>
              <a:t> </a:t>
            </a:r>
            <a:r>
              <a:rPr dirty="0" spc="-10"/>
              <a:t>feature</a:t>
            </a:r>
            <a:r>
              <a:rPr dirty="0" spc="-80"/>
              <a:t> </a:t>
            </a:r>
            <a:r>
              <a:rPr dirty="0" spc="-10"/>
              <a:t>extraction.</a:t>
            </a: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Report</a:t>
            </a:r>
            <a:r>
              <a:rPr dirty="0" spc="-100"/>
              <a:t> </a:t>
            </a:r>
            <a:r>
              <a:rPr dirty="0" spc="-10"/>
              <a:t>parameters</a:t>
            </a:r>
            <a:r>
              <a:rPr dirty="0" spc="-110"/>
              <a:t> </a:t>
            </a:r>
            <a:r>
              <a:rPr dirty="0"/>
              <a:t>used</a:t>
            </a:r>
            <a:r>
              <a:rPr dirty="0" spc="-80"/>
              <a:t> </a:t>
            </a:r>
            <a:r>
              <a:rPr dirty="0"/>
              <a:t>for</a:t>
            </a:r>
            <a:r>
              <a:rPr dirty="0" spc="-114"/>
              <a:t> </a:t>
            </a:r>
            <a:r>
              <a:rPr dirty="0" spc="-10"/>
              <a:t>feature</a:t>
            </a:r>
            <a:r>
              <a:rPr dirty="0" spc="-105"/>
              <a:t> </a:t>
            </a:r>
            <a:r>
              <a:rPr dirty="0" spc="-10"/>
              <a:t>extraction.</a:t>
            </a: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Describe</a:t>
            </a:r>
            <a:r>
              <a:rPr dirty="0" spc="-80"/>
              <a:t> </a:t>
            </a:r>
            <a:r>
              <a:rPr dirty="0" spc="-10"/>
              <a:t>features</a:t>
            </a:r>
          </a:p>
          <a:p>
            <a:pPr lvl="1" marL="697230" indent="-227329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types,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table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Use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appropriate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plots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Provide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samples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features.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7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DESCRIPTION</a:t>
            </a:r>
            <a:r>
              <a:rPr dirty="0" sz="3600" spc="-75"/>
              <a:t> </a:t>
            </a:r>
            <a:r>
              <a:rPr dirty="0" sz="3600"/>
              <a:t>OF</a:t>
            </a:r>
            <a:r>
              <a:rPr dirty="0" sz="3600" spc="-65"/>
              <a:t> </a:t>
            </a:r>
            <a:r>
              <a:rPr dirty="0" sz="3600"/>
              <a:t>THE</a:t>
            </a:r>
            <a:r>
              <a:rPr dirty="0" sz="3600" spc="-55"/>
              <a:t> </a:t>
            </a:r>
            <a:r>
              <a:rPr dirty="0" sz="3600" spc="-10"/>
              <a:t>MODEL</a:t>
            </a:r>
            <a:endParaRPr sz="3600"/>
          </a:p>
        </p:txBody>
      </p:sp>
      <p:sp>
        <p:nvSpPr>
          <p:cNvPr id="3" name="object 3" descr=""/>
          <p:cNvSpPr/>
          <p:nvPr/>
        </p:nvSpPr>
        <p:spPr>
          <a:xfrm>
            <a:off x="1158239" y="2333117"/>
            <a:ext cx="9057640" cy="434340"/>
          </a:xfrm>
          <a:custGeom>
            <a:avLst/>
            <a:gdLst/>
            <a:ahLst/>
            <a:cxnLst/>
            <a:rect l="l" t="t" r="r" b="b"/>
            <a:pathLst>
              <a:path w="9057640" h="434339">
                <a:moveTo>
                  <a:pt x="9057132" y="0"/>
                </a:moveTo>
                <a:lnTo>
                  <a:pt x="0" y="0"/>
                </a:lnTo>
                <a:lnTo>
                  <a:pt x="0" y="434339"/>
                </a:lnTo>
                <a:lnTo>
                  <a:pt x="9057132" y="434339"/>
                </a:lnTo>
                <a:lnTo>
                  <a:pt x="905713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16939" y="1707159"/>
            <a:ext cx="9298940" cy="104965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Describe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parameters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model.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Use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search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algorithm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find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best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model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parameters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[MS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58239" y="2767457"/>
            <a:ext cx="1391920" cy="384175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840"/>
              </a:lnSpc>
            </a:pPr>
            <a:r>
              <a:rPr dirty="0" sz="2800" spc="-10">
                <a:latin typeface="Calibri"/>
                <a:cs typeface="Calibri"/>
              </a:rPr>
              <a:t>Students]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PERFORMANCE</a:t>
            </a:r>
            <a:r>
              <a:rPr dirty="0" spc="-65"/>
              <a:t> </a:t>
            </a:r>
            <a:r>
              <a:rPr dirty="0"/>
              <a:t>OF</a:t>
            </a:r>
            <a:r>
              <a:rPr dirty="0" spc="-45"/>
              <a:t> 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 spc="-10"/>
              <a:t>MODEL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1615440" y="4219828"/>
            <a:ext cx="8918575" cy="574675"/>
          </a:xfrm>
          <a:custGeom>
            <a:avLst/>
            <a:gdLst/>
            <a:ahLst/>
            <a:cxnLst/>
            <a:rect l="l" t="t" r="r" b="b"/>
            <a:pathLst>
              <a:path w="8918575" h="574675">
                <a:moveTo>
                  <a:pt x="8918448" y="0"/>
                </a:moveTo>
                <a:lnTo>
                  <a:pt x="0" y="0"/>
                </a:lnTo>
                <a:lnTo>
                  <a:pt x="0" y="234696"/>
                </a:lnTo>
                <a:lnTo>
                  <a:pt x="0" y="339852"/>
                </a:lnTo>
                <a:lnTo>
                  <a:pt x="0" y="574548"/>
                </a:lnTo>
                <a:lnTo>
                  <a:pt x="7600188" y="574548"/>
                </a:lnTo>
                <a:lnTo>
                  <a:pt x="7600188" y="339852"/>
                </a:lnTo>
                <a:lnTo>
                  <a:pt x="8918448" y="339852"/>
                </a:lnTo>
                <a:lnTo>
                  <a:pt x="891844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16901" y="1736725"/>
            <a:ext cx="10178415" cy="22548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 indent="-228600">
              <a:lnSpc>
                <a:spcPts val="297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spc="-10" i="1">
                <a:latin typeface="Calibri"/>
                <a:cs typeface="Calibri"/>
              </a:rPr>
              <a:t>Plots</a:t>
            </a:r>
            <a:endParaRPr sz="2600">
              <a:latin typeface="Calibri"/>
              <a:cs typeface="Calibri"/>
            </a:endParaRPr>
          </a:p>
          <a:p>
            <a:pPr lvl="1" marL="697865" indent="-227965">
              <a:lnSpc>
                <a:spcPts val="2350"/>
              </a:lnSpc>
              <a:buFont typeface="Arial MT"/>
              <a:buChar char="•"/>
              <a:tabLst>
                <a:tab pos="697865" algn="l"/>
              </a:tabLst>
            </a:pPr>
            <a:r>
              <a:rPr dirty="0" sz="2200" spc="-10">
                <a:latin typeface="Calibri"/>
                <a:cs typeface="Calibri"/>
              </a:rPr>
              <a:t>Epoch-</a:t>
            </a:r>
            <a:r>
              <a:rPr dirty="0" sz="2200">
                <a:latin typeface="Calibri"/>
                <a:cs typeface="Calibri"/>
              </a:rPr>
              <a:t>error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curves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training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validation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data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sets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same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graph.</a:t>
            </a:r>
            <a:endParaRPr sz="2200">
              <a:latin typeface="Calibri"/>
              <a:cs typeface="Calibri"/>
            </a:endParaRPr>
          </a:p>
          <a:p>
            <a:pPr lvl="1" marL="697865" indent="-227965">
              <a:lnSpc>
                <a:spcPts val="2350"/>
              </a:lnSpc>
              <a:buFont typeface="Arial MT"/>
              <a:buChar char="•"/>
              <a:tabLst>
                <a:tab pos="697865" algn="l"/>
              </a:tabLst>
            </a:pPr>
            <a:r>
              <a:rPr dirty="0" sz="2200" i="1">
                <a:latin typeface="Calibri"/>
                <a:cs typeface="Calibri"/>
              </a:rPr>
              <a:t>Distribution</a:t>
            </a:r>
            <a:r>
              <a:rPr dirty="0" sz="2200" spc="-50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of</a:t>
            </a:r>
            <a:r>
              <a:rPr dirty="0" sz="2200" spc="-15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training,</a:t>
            </a:r>
            <a:r>
              <a:rPr dirty="0" sz="2200" spc="-35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validation,</a:t>
            </a:r>
            <a:r>
              <a:rPr dirty="0" sz="2200" spc="-70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test</a:t>
            </a:r>
            <a:r>
              <a:rPr dirty="0" sz="2200" spc="-15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data</a:t>
            </a:r>
            <a:r>
              <a:rPr dirty="0" sz="2200" spc="-25" i="1">
                <a:latin typeface="Calibri"/>
                <a:cs typeface="Calibri"/>
              </a:rPr>
              <a:t> </a:t>
            </a:r>
            <a:r>
              <a:rPr dirty="0" sz="2200" spc="-20" i="1">
                <a:latin typeface="Calibri"/>
                <a:cs typeface="Calibri"/>
              </a:rPr>
              <a:t>sets</a:t>
            </a:r>
            <a:endParaRPr sz="2200">
              <a:latin typeface="Calibri"/>
              <a:cs typeface="Calibri"/>
            </a:endParaRPr>
          </a:p>
          <a:p>
            <a:pPr lvl="1" marL="697865" indent="-227965">
              <a:lnSpc>
                <a:spcPts val="2495"/>
              </a:lnSpc>
              <a:buFont typeface="Arial MT"/>
              <a:buChar char="•"/>
              <a:tabLst>
                <a:tab pos="697865" algn="l"/>
              </a:tabLst>
            </a:pPr>
            <a:r>
              <a:rPr dirty="0" sz="2200" i="1">
                <a:latin typeface="Calibri"/>
                <a:cs typeface="Calibri"/>
              </a:rPr>
              <a:t>Performance</a:t>
            </a:r>
            <a:r>
              <a:rPr dirty="0" sz="2200" spc="-45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measures</a:t>
            </a:r>
            <a:r>
              <a:rPr dirty="0" sz="2200" spc="-15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to</a:t>
            </a:r>
            <a:r>
              <a:rPr dirty="0" sz="2200" spc="-15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compare</a:t>
            </a:r>
            <a:r>
              <a:rPr dirty="0" sz="2200" spc="-15" i="1">
                <a:latin typeface="Calibri"/>
                <a:cs typeface="Calibri"/>
              </a:rPr>
              <a:t> </a:t>
            </a:r>
            <a:r>
              <a:rPr dirty="0" sz="2200" spc="-10" i="1">
                <a:latin typeface="Calibri"/>
                <a:cs typeface="Calibri"/>
              </a:rPr>
              <a:t>models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ts val="2980"/>
              </a:lnSpc>
              <a:spcBef>
                <a:spcPts val="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Performance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measures</a:t>
            </a:r>
            <a:endParaRPr sz="2600">
              <a:latin typeface="Calibri"/>
              <a:cs typeface="Calibri"/>
            </a:endParaRPr>
          </a:p>
          <a:p>
            <a:pPr lvl="1" marL="698500" marR="5080" indent="-229235">
              <a:lnSpc>
                <a:spcPct val="70000"/>
              </a:lnSpc>
              <a:spcBef>
                <a:spcPts val="65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200">
                <a:latin typeface="Calibri"/>
                <a:cs typeface="Calibri"/>
              </a:rPr>
              <a:t>Apply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testing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schemes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including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K-</a:t>
            </a:r>
            <a:r>
              <a:rPr dirty="0" sz="2200">
                <a:latin typeface="Calibri"/>
                <a:cs typeface="Calibri"/>
              </a:rPr>
              <a:t>fold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cross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validation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3-</a:t>
            </a:r>
            <a:r>
              <a:rPr dirty="0" sz="2200">
                <a:latin typeface="Calibri"/>
                <a:cs typeface="Calibri"/>
              </a:rPr>
              <a:t>tier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scheme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(60,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20, </a:t>
            </a:r>
            <a:r>
              <a:rPr dirty="0" sz="2200" spc="-20">
                <a:latin typeface="Calibri"/>
                <a:cs typeface="Calibri"/>
              </a:rPr>
              <a:t>20).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072639" y="3965321"/>
            <a:ext cx="3873500" cy="27432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60"/>
              </a:lnSpc>
            </a:pPr>
            <a:r>
              <a:rPr dirty="0" sz="1900">
                <a:latin typeface="Calibri"/>
                <a:cs typeface="Calibri"/>
              </a:rPr>
              <a:t>MS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students: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Use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both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testing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schemes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831314" y="3941953"/>
            <a:ext cx="4177029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103370" indent="-409067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4103370" algn="l"/>
              </a:tabLst>
            </a:pPr>
            <a:r>
              <a:rPr dirty="0" sz="1900" spc="-50">
                <a:latin typeface="Calibri"/>
                <a:cs typeface="Calibri"/>
              </a:rPr>
              <a:t>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374114" y="4198543"/>
            <a:ext cx="123189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50">
                <a:latin typeface="Arial MT"/>
                <a:cs typeface="Arial MT"/>
              </a:rPr>
              <a:t>•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615439" y="4239640"/>
            <a:ext cx="8918575" cy="215265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89"/>
              </a:lnSpc>
            </a:pPr>
            <a:r>
              <a:rPr dirty="0" sz="2200">
                <a:latin typeface="Calibri"/>
                <a:cs typeface="Calibri"/>
              </a:rPr>
              <a:t>Discuss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performance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each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model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based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upon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performance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measures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of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602739" y="4433366"/>
            <a:ext cx="767842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20">
                <a:latin typeface="Calibri"/>
                <a:cs typeface="Calibri"/>
              </a:rPr>
              <a:t>sensitivity,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specificity,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accuracy,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F1,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AUC,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others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appropriate.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831314" y="4745659"/>
            <a:ext cx="10985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50">
                <a:latin typeface="Arial MT"/>
                <a:cs typeface="Arial MT"/>
              </a:rPr>
              <a:t>•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072639" y="4794377"/>
            <a:ext cx="2853055" cy="269875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89"/>
              </a:lnSpc>
            </a:pPr>
            <a:r>
              <a:rPr dirty="0" sz="1900">
                <a:latin typeface="Calibri"/>
                <a:cs typeface="Calibri"/>
              </a:rPr>
              <a:t>Plot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them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on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same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figure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16901" y="5041315"/>
            <a:ext cx="14160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50"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158239" y="5064125"/>
            <a:ext cx="5449570" cy="40386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45"/>
              </a:lnSpc>
            </a:pPr>
            <a:r>
              <a:rPr dirty="0" sz="2600">
                <a:latin typeface="Calibri"/>
                <a:cs typeface="Calibri"/>
              </a:rPr>
              <a:t>Robustness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models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[MS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Students]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374114" y="5402503"/>
            <a:ext cx="649541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200">
                <a:latin typeface="Calibri"/>
                <a:cs typeface="Calibri"/>
              </a:rPr>
              <a:t>Use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 spc="-30">
                <a:latin typeface="Calibri"/>
                <a:cs typeface="Calibri"/>
              </a:rPr>
              <a:t>whisker-</a:t>
            </a:r>
            <a:r>
              <a:rPr dirty="0" sz="2200">
                <a:latin typeface="Calibri"/>
                <a:cs typeface="Calibri"/>
              </a:rPr>
              <a:t>box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plot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out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at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least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5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random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trials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Omer</dc:creator>
  <dc:title>CMPS 439/539 FINAL PROJECT</dc:title>
  <dcterms:created xsi:type="dcterms:W3CDTF">2026-03-06T12:15:20Z</dcterms:created>
  <dcterms:modified xsi:type="dcterms:W3CDTF">2026-03-06T12:15:20Z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2025-03-17T00:00:00Z</vt:filetime>
  </property>
  <property fmtid="{D5CDD505-2E9C-101B-9397-08002B2CF9AE}" pid="3" name="Creator">
    <vt:lpwstr>Acrobat PDFMaker 20 for PowerPoint</vt:lpwstr>
  </property>
  <property fmtid="{D5CDD505-2E9C-101B-9397-08002B2CF9AE}" pid="4" name="LastSaved">
    <vt:filetime>2026-03-06T00:00:00Z</vt:filetime>
  </property>
  <property fmtid="{D5CDD505-2E9C-101B-9397-08002B2CF9AE}" pid="5" name="Producer">
    <vt:lpwstr>Adobe PDF Library 20.5.43</vt:lpwstr>
  </property>
</Properties>
</file>